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0"/>
  </p:notesMasterIdLst>
  <p:handoutMasterIdLst>
    <p:handoutMasterId r:id="rId31"/>
  </p:handoutMasterIdLst>
  <p:sldIdLst>
    <p:sldId id="264" r:id="rId3"/>
    <p:sldId id="263" r:id="rId4"/>
    <p:sldId id="259" r:id="rId5"/>
    <p:sldId id="260" r:id="rId6"/>
    <p:sldId id="261" r:id="rId7"/>
    <p:sldId id="265" r:id="rId8"/>
    <p:sldId id="267" r:id="rId9"/>
    <p:sldId id="268" r:id="rId10"/>
    <p:sldId id="269" r:id="rId11"/>
    <p:sldId id="270" r:id="rId12"/>
    <p:sldId id="271" r:id="rId13"/>
    <p:sldId id="288" r:id="rId14"/>
    <p:sldId id="289" r:id="rId15"/>
    <p:sldId id="290" r:id="rId16"/>
    <p:sldId id="291" r:id="rId17"/>
    <p:sldId id="292" r:id="rId18"/>
    <p:sldId id="293" r:id="rId19"/>
    <p:sldId id="294" r:id="rId20"/>
    <p:sldId id="279" r:id="rId21"/>
    <p:sldId id="280" r:id="rId22"/>
    <p:sldId id="281" r:id="rId23"/>
    <p:sldId id="282" r:id="rId24"/>
    <p:sldId id="283" r:id="rId25"/>
    <p:sldId id="284" r:id="rId26"/>
    <p:sldId id="285" r:id="rId27"/>
    <p:sldId id="286" r:id="rId28"/>
    <p:sldId id="28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147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E42B491-1408-FF42-A419-041EE731746A}" type="datetimeFigureOut">
              <a:rPr lang="en-US" smtClean="0"/>
              <a:t>7/19/2016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525B3B-F84B-2D41-93D9-B091DC32A074}" type="slidenum">
              <a:rPr lang="en-US" smtClean="0"/>
              <a:t>‹#›</a:t>
            </a:fld>
            <a:endParaRPr lang="en-US"/>
          </a:p>
        </p:txBody>
      </p:sp>
    </p:spTree>
    <p:extLst>
      <p:ext uri="{BB962C8B-B14F-4D97-AF65-F5344CB8AC3E}">
        <p14:creationId xmlns:p14="http://schemas.microsoft.com/office/powerpoint/2010/main" val="1609822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408A42-8110-7F4B-8B5D-8E63E83FB20C}" type="datetimeFigureOut">
              <a:rPr lang="en-US" smtClean="0"/>
              <a:t>7/19/2016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89D2A8-80AF-A04A-8712-B8C3DD67BF6B}" type="slidenum">
              <a:rPr lang="en-US" smtClean="0"/>
              <a:t>‹#›</a:t>
            </a:fld>
            <a:endParaRPr lang="en-US"/>
          </a:p>
        </p:txBody>
      </p:sp>
    </p:spTree>
    <p:extLst>
      <p:ext uri="{BB962C8B-B14F-4D97-AF65-F5344CB8AC3E}">
        <p14:creationId xmlns:p14="http://schemas.microsoft.com/office/powerpoint/2010/main" val="264286894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1</a:t>
            </a:fld>
            <a:endParaRPr lang="en-US"/>
          </a:p>
        </p:txBody>
      </p:sp>
    </p:spTree>
    <p:extLst>
      <p:ext uri="{BB962C8B-B14F-4D97-AF65-F5344CB8AC3E}">
        <p14:creationId xmlns:p14="http://schemas.microsoft.com/office/powerpoint/2010/main" val="3336375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2</a:t>
            </a:fld>
            <a:endParaRPr lang="en-US"/>
          </a:p>
        </p:txBody>
      </p:sp>
    </p:spTree>
    <p:extLst>
      <p:ext uri="{BB962C8B-B14F-4D97-AF65-F5344CB8AC3E}">
        <p14:creationId xmlns:p14="http://schemas.microsoft.com/office/powerpoint/2010/main" val="310060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3</a:t>
            </a:fld>
            <a:endParaRPr lang="en-US"/>
          </a:p>
        </p:txBody>
      </p:sp>
    </p:spTree>
    <p:extLst>
      <p:ext uri="{BB962C8B-B14F-4D97-AF65-F5344CB8AC3E}">
        <p14:creationId xmlns:p14="http://schemas.microsoft.com/office/powerpoint/2010/main" val="1547665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4</a:t>
            </a:fld>
            <a:endParaRPr lang="en-US"/>
          </a:p>
        </p:txBody>
      </p:sp>
    </p:spTree>
    <p:extLst>
      <p:ext uri="{BB962C8B-B14F-4D97-AF65-F5344CB8AC3E}">
        <p14:creationId xmlns:p14="http://schemas.microsoft.com/office/powerpoint/2010/main" val="772185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5</a:t>
            </a:fld>
            <a:endParaRPr lang="en-US"/>
          </a:p>
        </p:txBody>
      </p:sp>
    </p:spTree>
    <p:extLst>
      <p:ext uri="{BB962C8B-B14F-4D97-AF65-F5344CB8AC3E}">
        <p14:creationId xmlns:p14="http://schemas.microsoft.com/office/powerpoint/2010/main" val="282233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89D2A8-80AF-A04A-8712-B8C3DD67BF6B}" type="slidenum">
              <a:rPr lang="en-US" smtClean="0"/>
              <a:t>6</a:t>
            </a:fld>
            <a:endParaRPr lang="en-US"/>
          </a:p>
        </p:txBody>
      </p:sp>
    </p:spTree>
    <p:extLst>
      <p:ext uri="{BB962C8B-B14F-4D97-AF65-F5344CB8AC3E}">
        <p14:creationId xmlns:p14="http://schemas.microsoft.com/office/powerpoint/2010/main" val="1811830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2A4E44-0FFA-43CE-8906-EF39F0E17DE6}" type="slidenum">
              <a:rPr lang="en-US" smtClean="0"/>
              <a:t>7</a:t>
            </a:fld>
            <a:endParaRPr lang="en-US"/>
          </a:p>
        </p:txBody>
      </p:sp>
    </p:spTree>
    <p:extLst>
      <p:ext uri="{BB962C8B-B14F-4D97-AF65-F5344CB8AC3E}">
        <p14:creationId xmlns:p14="http://schemas.microsoft.com/office/powerpoint/2010/main" val="2042485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9DBEA4D-F3C4-4046-BB47-FCB1207B26B3}"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86308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BEA4D-F3C4-4046-BB47-FCB1207B26B3}"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3384489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DBEA4D-F3C4-4046-BB47-FCB1207B26B3}"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355517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DBEA4D-F3C4-4046-BB47-FCB1207B26B3}"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15259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DBEA4D-F3C4-4046-BB47-FCB1207B26B3}" type="datetimeFigureOut">
              <a:rPr lang="en-US" smtClean="0"/>
              <a:t>7/19/2016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3321584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DBEA4D-F3C4-4046-BB47-FCB1207B26B3}" type="datetimeFigureOut">
              <a:rPr lang="en-US" smtClean="0"/>
              <a:t>7/19/2016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3287540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DBEA4D-F3C4-4046-BB47-FCB1207B26B3}" type="datetimeFigureOut">
              <a:rPr lang="en-US" smtClean="0"/>
              <a:t>7/19/2016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1362589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DBEA4D-F3C4-4046-BB47-FCB1207B26B3}"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176252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DBEA4D-F3C4-4046-BB47-FCB1207B26B3}"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3835307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BEA4D-F3C4-4046-BB47-FCB1207B26B3}"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1948295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BEA4D-F3C4-4046-BB47-FCB1207B26B3}"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775A35-BBF8-6142-A822-4BC4CE95054E}" type="slidenum">
              <a:rPr lang="en-US" smtClean="0"/>
              <a:t>‹#›</a:t>
            </a:fld>
            <a:endParaRPr lang="en-US"/>
          </a:p>
        </p:txBody>
      </p:sp>
    </p:spTree>
    <p:extLst>
      <p:ext uri="{BB962C8B-B14F-4D97-AF65-F5344CB8AC3E}">
        <p14:creationId xmlns:p14="http://schemas.microsoft.com/office/powerpoint/2010/main" val="723756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rgbClr val="FFFFFF"/>
                </a:solidFill>
                <a:latin typeface="Helvetica"/>
                <a:cs typeface="Helvetica"/>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FFFFFF"/>
                </a:solidFill>
                <a:latin typeface="Helvetica"/>
                <a:cs typeface="Helvetic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CB151F00-3264-D74A-9603-89B73FD0711A}"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2418938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51F00-3264-D74A-9603-89B73FD0711A}"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297618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151F00-3264-D74A-9603-89B73FD0711A}"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2495900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151F00-3264-D74A-9603-89B73FD0711A}"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1876707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151F00-3264-D74A-9603-89B73FD0711A}" type="datetimeFigureOut">
              <a:rPr lang="en-US" smtClean="0"/>
              <a:t>7/19/2016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4035267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151F00-3264-D74A-9603-89B73FD0711A}" type="datetimeFigureOut">
              <a:rPr lang="en-US" smtClean="0"/>
              <a:t>7/19/2016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1689867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151F00-3264-D74A-9603-89B73FD0711A}" type="datetimeFigureOut">
              <a:rPr lang="en-US" smtClean="0"/>
              <a:t>7/19/2016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1955571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151F00-3264-D74A-9603-89B73FD0711A}"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3867734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151F00-3264-D74A-9603-89B73FD0711A}" type="datetimeFigureOut">
              <a:rPr lang="en-US" smtClean="0"/>
              <a:t>7/19/2016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31585477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51F00-3264-D74A-9603-89B73FD0711A}"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28826198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51F00-3264-D74A-9603-89B73FD0711A}" type="datetimeFigureOut">
              <a:rPr lang="en-US" smtClean="0"/>
              <a:t>7/19/2016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22E7-0B53-A749-8E8D-2BB8494E4F3B}" type="slidenum">
              <a:rPr lang="en-US" smtClean="0"/>
              <a:t>‹#›</a:t>
            </a:fld>
            <a:endParaRPr lang="en-US"/>
          </a:p>
        </p:txBody>
      </p:sp>
    </p:spTree>
    <p:extLst>
      <p:ext uri="{BB962C8B-B14F-4D97-AF65-F5344CB8AC3E}">
        <p14:creationId xmlns:p14="http://schemas.microsoft.com/office/powerpoint/2010/main" val="741364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DBEA4D-F3C4-4046-BB47-FCB1207B26B3}" type="datetimeFigureOut">
              <a:rPr lang="en-US" smtClean="0"/>
              <a:t>7/19/2016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775A35-BBF8-6142-A822-4BC4CE95054E}" type="slidenum">
              <a:rPr lang="en-US" smtClean="0"/>
              <a:t>‹#›</a:t>
            </a:fld>
            <a:endParaRPr lang="en-US"/>
          </a:p>
        </p:txBody>
      </p:sp>
    </p:spTree>
    <p:extLst>
      <p:ext uri="{BB962C8B-B14F-4D97-AF65-F5344CB8AC3E}">
        <p14:creationId xmlns:p14="http://schemas.microsoft.com/office/powerpoint/2010/main" val="4042721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Helvetica"/>
          <a:ea typeface="+mj-ea"/>
          <a:cs typeface="Helvetica"/>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800" kern="1200">
          <a:solidFill>
            <a:schemeClr val="tx1"/>
          </a:solidFill>
          <a:latin typeface="Helvetica"/>
          <a:ea typeface="+mn-ea"/>
          <a:cs typeface="Helvetica"/>
        </a:defRPr>
      </a:lvl2pPr>
      <a:lvl3pPr marL="1143000" indent="-228600" algn="l" defTabSz="457200" rtl="0" eaLnBrk="1" latinLnBrk="0" hangingPunct="1">
        <a:spcBef>
          <a:spcPct val="20000"/>
        </a:spcBef>
        <a:buFont typeface="Arial"/>
        <a:buChar char="•"/>
        <a:defRPr sz="2400" kern="1200">
          <a:solidFill>
            <a:schemeClr val="tx1"/>
          </a:solidFill>
          <a:latin typeface="Helvetica"/>
          <a:ea typeface="+mn-ea"/>
          <a:cs typeface="Helvetica"/>
        </a:defRPr>
      </a:lvl3pPr>
      <a:lvl4pPr marL="1600200" indent="-228600" algn="l" defTabSz="457200" rtl="0" eaLnBrk="1" latinLnBrk="0" hangingPunct="1">
        <a:spcBef>
          <a:spcPct val="20000"/>
        </a:spcBef>
        <a:buFont typeface="Arial"/>
        <a:buChar char="–"/>
        <a:defRPr sz="2000" kern="1200">
          <a:solidFill>
            <a:schemeClr val="tx1"/>
          </a:solidFill>
          <a:latin typeface="Helvetica"/>
          <a:ea typeface="+mn-ea"/>
          <a:cs typeface="Helvetica"/>
        </a:defRPr>
      </a:lvl4pPr>
      <a:lvl5pPr marL="2057400" indent="-228600" algn="l" defTabSz="457200" rtl="0" eaLnBrk="1" latinLnBrk="0" hangingPunct="1">
        <a:spcBef>
          <a:spcPct val="20000"/>
        </a:spcBef>
        <a:buFont typeface="Arial"/>
        <a:buChar char="»"/>
        <a:defRPr sz="2000" kern="1200">
          <a:solidFill>
            <a:schemeClr val="tx1"/>
          </a:solidFill>
          <a:latin typeface="Helvetica"/>
          <a:ea typeface="+mn-ea"/>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51F00-3264-D74A-9603-89B73FD0711A}" type="datetimeFigureOut">
              <a:rPr lang="en-US" smtClean="0"/>
              <a:t>7/19/2016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522E7-0B53-A749-8E8D-2BB8494E4F3B}" type="slidenum">
              <a:rPr lang="en-US" smtClean="0"/>
              <a:t>‹#›</a:t>
            </a:fld>
            <a:endParaRPr lang="en-US"/>
          </a:p>
        </p:txBody>
      </p:sp>
    </p:spTree>
    <p:extLst>
      <p:ext uri="{BB962C8B-B14F-4D97-AF65-F5344CB8AC3E}">
        <p14:creationId xmlns:p14="http://schemas.microsoft.com/office/powerpoint/2010/main" val="17074165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1021772"/>
            <a:ext cx="9144000" cy="1427892"/>
          </a:xfrm>
          <a:prstGeom prst="rect">
            <a:avLst/>
          </a:prstGeom>
        </p:spPr>
      </p:pic>
      <p:sp>
        <p:nvSpPr>
          <p:cNvPr id="8" name="Subtitle 2"/>
          <p:cNvSpPr txBox="1">
            <a:spLocks/>
          </p:cNvSpPr>
          <p:nvPr/>
        </p:nvSpPr>
        <p:spPr>
          <a:xfrm>
            <a:off x="5702063" y="3637819"/>
            <a:ext cx="3276632" cy="256312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800" kern="1200">
                <a:solidFill>
                  <a:schemeClr val="tx1"/>
                </a:solidFill>
                <a:latin typeface="Helvetica"/>
                <a:ea typeface="+mn-ea"/>
                <a:cs typeface="Helvetica"/>
              </a:defRPr>
            </a:lvl2pPr>
            <a:lvl3pPr marL="1143000" indent="-228600" algn="l" defTabSz="457200" rtl="0" eaLnBrk="1" latinLnBrk="0" hangingPunct="1">
              <a:spcBef>
                <a:spcPct val="20000"/>
              </a:spcBef>
              <a:buFont typeface="Arial"/>
              <a:buChar char="•"/>
              <a:defRPr sz="2400" kern="1200">
                <a:solidFill>
                  <a:schemeClr val="tx1"/>
                </a:solidFill>
                <a:latin typeface="Helvetica"/>
                <a:ea typeface="+mn-ea"/>
                <a:cs typeface="Helvetica"/>
              </a:defRPr>
            </a:lvl3pPr>
            <a:lvl4pPr marL="1600200" indent="-228600" algn="l" defTabSz="457200" rtl="0" eaLnBrk="1" latinLnBrk="0" hangingPunct="1">
              <a:spcBef>
                <a:spcPct val="20000"/>
              </a:spcBef>
              <a:buFont typeface="Arial"/>
              <a:buChar char="–"/>
              <a:defRPr sz="2000" kern="1200">
                <a:solidFill>
                  <a:schemeClr val="tx1"/>
                </a:solidFill>
                <a:latin typeface="Helvetica"/>
                <a:ea typeface="+mn-ea"/>
                <a:cs typeface="Helvetica"/>
              </a:defRPr>
            </a:lvl4pPr>
            <a:lvl5pPr marL="2057400" indent="-228600" algn="l" defTabSz="457200" rtl="0" eaLnBrk="1" latinLnBrk="0" hangingPunct="1">
              <a:spcBef>
                <a:spcPct val="20000"/>
              </a:spcBef>
              <a:buFont typeface="Arial"/>
              <a:buChar char="»"/>
              <a:defRPr sz="2000" kern="1200">
                <a:solidFill>
                  <a:schemeClr val="tx1"/>
                </a:solidFill>
                <a:latin typeface="Helvetica"/>
                <a:ea typeface="+mn-ea"/>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rgbClr val="FF0000"/>
                </a:solidFill>
                <a:latin typeface="Times New Roman"/>
                <a:cs typeface="Times New Roman"/>
              </a:rPr>
              <a:t>Presented By</a:t>
            </a:r>
          </a:p>
          <a:p>
            <a:pPr marL="0" indent="0">
              <a:buNone/>
            </a:pPr>
            <a:r>
              <a:rPr lang="en-US" sz="2300" dirty="0">
                <a:latin typeface="Times New Roman" panose="02020603050405020304" pitchFamily="18" charset="0"/>
                <a:cs typeface="Times New Roman" panose="02020603050405020304" pitchFamily="18" charset="0"/>
              </a:rPr>
              <a:t>Chaitanya Sai Manne</a:t>
            </a:r>
          </a:p>
          <a:p>
            <a:pPr marL="0" indent="0">
              <a:buNone/>
            </a:pPr>
            <a:r>
              <a:rPr lang="en-US" sz="2300" dirty="0">
                <a:latin typeface="Times New Roman" panose="02020603050405020304" pitchFamily="18" charset="0"/>
                <a:cs typeface="Times New Roman" panose="02020603050405020304" pitchFamily="18" charset="0"/>
              </a:rPr>
              <a:t>Karthik Reddy Vundela</a:t>
            </a:r>
          </a:p>
          <a:p>
            <a:pPr marL="0" indent="0">
              <a:buNone/>
            </a:pPr>
            <a:r>
              <a:rPr lang="en-US" sz="2300" dirty="0">
                <a:latin typeface="Times New Roman" panose="02020603050405020304" pitchFamily="18" charset="0"/>
                <a:cs typeface="Times New Roman" panose="02020603050405020304" pitchFamily="18" charset="0"/>
              </a:rPr>
              <a:t>Sri Chaitanya </a:t>
            </a:r>
            <a:r>
              <a:rPr lang="en-US" sz="2300" dirty="0" err="1">
                <a:latin typeface="Times New Roman" panose="02020603050405020304" pitchFamily="18" charset="0"/>
                <a:cs typeface="Times New Roman" panose="02020603050405020304" pitchFamily="18" charset="0"/>
              </a:rPr>
              <a:t>Patluri</a:t>
            </a:r>
            <a:endParaRPr lang="en-US" sz="2300" dirty="0">
              <a:latin typeface="Times New Roman" panose="02020603050405020304" pitchFamily="18" charset="0"/>
              <a:cs typeface="Times New Roman" panose="02020603050405020304" pitchFamily="18" charset="0"/>
            </a:endParaRPr>
          </a:p>
          <a:p>
            <a:pPr marL="0" indent="0">
              <a:buNone/>
            </a:pPr>
            <a:r>
              <a:rPr lang="en-US" sz="2300" dirty="0">
                <a:latin typeface="Times New Roman" panose="02020603050405020304" pitchFamily="18" charset="0"/>
                <a:cs typeface="Times New Roman" panose="02020603050405020304" pitchFamily="18" charset="0"/>
              </a:rPr>
              <a:t>Sai </a:t>
            </a:r>
            <a:r>
              <a:rPr lang="en-US" sz="2300" dirty="0" err="1">
                <a:latin typeface="Times New Roman" panose="02020603050405020304" pitchFamily="18" charset="0"/>
                <a:cs typeface="Times New Roman" panose="02020603050405020304" pitchFamily="18" charset="0"/>
              </a:rPr>
              <a:t>Venkatesh</a:t>
            </a:r>
            <a:r>
              <a:rPr lang="en-US" sz="2300" dirty="0">
                <a:solidFill>
                  <a:srgbClr val="00B0F0"/>
                </a:solidFill>
                <a:cs typeface="Times New Roman"/>
              </a:rPr>
              <a:t> </a:t>
            </a:r>
            <a:r>
              <a:rPr lang="en-US" sz="2300" dirty="0" err="1">
                <a:latin typeface="Times New Roman" panose="02020603050405020304" pitchFamily="18" charset="0"/>
                <a:cs typeface="Times New Roman" panose="02020603050405020304" pitchFamily="18" charset="0"/>
              </a:rPr>
              <a:t>Gatiganti</a:t>
            </a:r>
            <a:endParaRPr lang="en-US" sz="2300" dirty="0">
              <a:latin typeface="Times New Roman" panose="02020603050405020304" pitchFamily="18" charset="0"/>
              <a:cs typeface="Times New Roman" panose="02020603050405020304" pitchFamily="18" charset="0"/>
            </a:endParaRPr>
          </a:p>
          <a:p>
            <a:endParaRPr lang="en-US" dirty="0"/>
          </a:p>
        </p:txBody>
      </p:sp>
      <p:pic>
        <p:nvPicPr>
          <p:cNvPr id="9" name="Picture 8"/>
          <p:cNvPicPr>
            <a:picLocks noChangeAspect="1"/>
          </p:cNvPicPr>
          <p:nvPr/>
        </p:nvPicPr>
        <p:blipFill>
          <a:blip r:embed="rId4"/>
          <a:stretch>
            <a:fillRect/>
          </a:stretch>
        </p:blipFill>
        <p:spPr>
          <a:xfrm>
            <a:off x="0" y="2791390"/>
            <a:ext cx="9144000" cy="846429"/>
          </a:xfrm>
          <a:prstGeom prst="rect">
            <a:avLst/>
          </a:prstGeom>
        </p:spPr>
      </p:pic>
    </p:spTree>
    <p:extLst>
      <p:ext uri="{BB962C8B-B14F-4D97-AF65-F5344CB8AC3E}">
        <p14:creationId xmlns:p14="http://schemas.microsoft.com/office/powerpoint/2010/main" val="2111118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5190"/>
            <a:ext cx="8229600" cy="1143000"/>
          </a:xfrm>
        </p:spPr>
        <p:txBody>
          <a:bodyPr/>
          <a:lstStyle/>
          <a:p>
            <a:r>
              <a:rPr lang="en-US" dirty="0">
                <a:solidFill>
                  <a:schemeClr val="accent1"/>
                </a:solidFill>
                <a:latin typeface="Times New Roman"/>
                <a:cs typeface="Times New Roman"/>
              </a:rPr>
              <a:t>Introduction</a:t>
            </a:r>
          </a:p>
        </p:txBody>
      </p:sp>
      <p:sp>
        <p:nvSpPr>
          <p:cNvPr id="3" name="Content Placeholder 2"/>
          <p:cNvSpPr>
            <a:spLocks noGrp="1"/>
          </p:cNvSpPr>
          <p:nvPr>
            <p:ph idx="1"/>
          </p:nvPr>
        </p:nvSpPr>
        <p:spPr>
          <a:xfrm>
            <a:off x="457200" y="1460229"/>
            <a:ext cx="8229600" cy="4292872"/>
          </a:xfrm>
        </p:spPr>
        <p:txBody>
          <a:bodyPr>
            <a:normAutofit fontScale="85000" lnSpcReduction="20000"/>
          </a:bodyPr>
          <a:lstStyle/>
          <a:p>
            <a:pPr algn="just"/>
            <a:r>
              <a:rPr lang="en-US" sz="3000" dirty="0">
                <a:latin typeface="Times New Roman"/>
                <a:cs typeface="Times New Roman"/>
              </a:rPr>
              <a:t>What is Patent ?</a:t>
            </a:r>
          </a:p>
          <a:p>
            <a:pPr lvl="1" algn="just"/>
            <a:r>
              <a:rPr lang="en-US" sz="2600" dirty="0">
                <a:latin typeface="Times New Roman"/>
                <a:cs typeface="Times New Roman"/>
              </a:rPr>
              <a:t>A property right granted by the Government of the United States of America to an inventor ‘to exclude others from making, using, offering for sale, or selling the invention throughout the United States or importing the invention into the United States’ for a limited time in exchange for public disclosure of the invention when the patent is granted</a:t>
            </a:r>
          </a:p>
          <a:p>
            <a:pPr lvl="0" algn="just">
              <a:buClr>
                <a:srgbClr val="0072BC"/>
              </a:buClr>
            </a:pPr>
            <a:r>
              <a:rPr lang="en-US" sz="3000" dirty="0">
                <a:latin typeface="Times New Roman"/>
                <a:cs typeface="Times New Roman"/>
              </a:rPr>
              <a:t>Patent Analysis</a:t>
            </a:r>
          </a:p>
          <a:p>
            <a:pPr lvl="1" algn="just">
              <a:buClr>
                <a:srgbClr val="0072BC"/>
              </a:buClr>
            </a:pPr>
            <a:r>
              <a:rPr lang="en-US" sz="2600" dirty="0">
                <a:latin typeface="Times New Roman"/>
                <a:cs typeface="Times New Roman"/>
              </a:rPr>
              <a:t>To understand the patents particularly what are the steps involved in invention and how they are related to each other is complex and time-consuming. To ease the work, expedient tools help us to understand patents which increases the quality and lower the cost.</a:t>
            </a:r>
            <a:r>
              <a:rPr lang="en-US" sz="3000" dirty="0">
                <a:latin typeface="Times New Roman"/>
                <a:cs typeface="Times New Roman"/>
              </a:rPr>
              <a:t> </a:t>
            </a:r>
          </a:p>
          <a:p>
            <a:pPr lvl="1" algn="just">
              <a:buClr>
                <a:srgbClr val="0072BC"/>
              </a:buClr>
            </a:pPr>
            <a:endParaRPr lang="en-US" dirty="0"/>
          </a:p>
        </p:txBody>
      </p:sp>
    </p:spTree>
    <p:extLst>
      <p:ext uri="{BB962C8B-B14F-4D97-AF65-F5344CB8AC3E}">
        <p14:creationId xmlns:p14="http://schemas.microsoft.com/office/powerpoint/2010/main" val="1008080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5190"/>
            <a:ext cx="8229600" cy="1143000"/>
          </a:xfrm>
        </p:spPr>
        <p:txBody>
          <a:bodyPr/>
          <a:lstStyle/>
          <a:p>
            <a:r>
              <a:rPr lang="en-US" dirty="0">
                <a:solidFill>
                  <a:schemeClr val="accent1"/>
                </a:solidFill>
                <a:latin typeface="Times New Roman"/>
                <a:cs typeface="Times New Roman"/>
              </a:rPr>
              <a:t>TOPAS Workbench</a:t>
            </a:r>
          </a:p>
        </p:txBody>
      </p:sp>
      <p:sp>
        <p:nvSpPr>
          <p:cNvPr id="3" name="Content Placeholder 2"/>
          <p:cNvSpPr>
            <a:spLocks noGrp="1"/>
          </p:cNvSpPr>
          <p:nvPr>
            <p:ph idx="1"/>
          </p:nvPr>
        </p:nvSpPr>
        <p:spPr>
          <a:xfrm>
            <a:off x="457200" y="1460229"/>
            <a:ext cx="8229600" cy="4292872"/>
          </a:xfrm>
        </p:spPr>
        <p:txBody>
          <a:bodyPr>
            <a:normAutofit fontScale="77500" lnSpcReduction="20000"/>
          </a:bodyPr>
          <a:lstStyle/>
          <a:p>
            <a:pPr algn="just"/>
            <a:r>
              <a:rPr lang="en-US" sz="3000" dirty="0">
                <a:latin typeface="Times New Roman"/>
                <a:cs typeface="Times New Roman"/>
              </a:rPr>
              <a:t>It’s a prototype which integrates technologies for </a:t>
            </a:r>
            <a:r>
              <a:rPr lang="fr-FR" sz="3000" dirty="0" err="1">
                <a:latin typeface="Times New Roman"/>
                <a:cs typeface="Times New Roman"/>
              </a:rPr>
              <a:t>Entity</a:t>
            </a:r>
            <a:r>
              <a:rPr lang="fr-FR" sz="3000" dirty="0">
                <a:latin typeface="Times New Roman"/>
                <a:cs typeface="Times New Roman"/>
              </a:rPr>
              <a:t> recognition, lexical Chain identification, patent segmentation</a:t>
            </a:r>
            <a:r>
              <a:rPr lang="en-US" sz="3000" dirty="0">
                <a:latin typeface="Times New Roman"/>
                <a:cs typeface="Times New Roman"/>
              </a:rPr>
              <a:t>, claim e description alignment, invention composition derivation and patent summarization. </a:t>
            </a:r>
          </a:p>
          <a:p>
            <a:pPr algn="just"/>
            <a:r>
              <a:rPr lang="en-US" sz="3000" dirty="0">
                <a:latin typeface="Times New Roman"/>
                <a:cs typeface="Times New Roman"/>
              </a:rPr>
              <a:t>Each of the TOPAS technologies is realized as a separate module</a:t>
            </a:r>
            <a:r>
              <a:rPr lang="en-US" dirty="0"/>
              <a:t>.</a:t>
            </a:r>
          </a:p>
          <a:p>
            <a:pPr algn="just"/>
            <a:r>
              <a:rPr lang="en-US" sz="3100" dirty="0">
                <a:latin typeface="Times New Roman"/>
                <a:cs typeface="Times New Roman"/>
              </a:rPr>
              <a:t>Most of them can be used independently from each other. Only alignment and composition detection presuppose a prior segmentation.</a:t>
            </a:r>
          </a:p>
          <a:p>
            <a:pPr algn="just"/>
            <a:r>
              <a:rPr lang="en-US" sz="3100" dirty="0">
                <a:latin typeface="Times New Roman"/>
                <a:cs typeface="Times New Roman"/>
              </a:rPr>
              <a:t>An open source software named as GATE is used for document representation and algorithm integration.</a:t>
            </a:r>
          </a:p>
          <a:p>
            <a:pPr algn="just"/>
            <a:r>
              <a:rPr lang="en-US" sz="3100" dirty="0">
                <a:latin typeface="Times New Roman"/>
                <a:cs typeface="Times New Roman"/>
              </a:rPr>
              <a:t>TOPAS processes patents in all three European patent languages: English, French and German.</a:t>
            </a:r>
          </a:p>
          <a:p>
            <a:pPr algn="just"/>
            <a:endParaRPr lang="en-US" sz="3100" dirty="0">
              <a:latin typeface="Times New Roman"/>
              <a:cs typeface="Times New Roman"/>
            </a:endParaRPr>
          </a:p>
          <a:p>
            <a:pPr lvl="0" algn="just">
              <a:buClr>
                <a:srgbClr val="0072BC"/>
              </a:buClr>
            </a:pPr>
            <a:endParaRPr lang="en-US" dirty="0"/>
          </a:p>
        </p:txBody>
      </p:sp>
    </p:spTree>
    <p:extLst>
      <p:ext uri="{BB962C8B-B14F-4D97-AF65-F5344CB8AC3E}">
        <p14:creationId xmlns:p14="http://schemas.microsoft.com/office/powerpoint/2010/main" val="358139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362"/>
            <a:ext cx="8229600" cy="1143000"/>
          </a:xfrm>
        </p:spPr>
        <p:txBody>
          <a:bodyPr/>
          <a:lstStyle/>
          <a:p>
            <a:r>
              <a:rPr lang="en-US" dirty="0">
                <a:solidFill>
                  <a:schemeClr val="accent1"/>
                </a:solidFill>
                <a:latin typeface="Times New Roman"/>
                <a:cs typeface="Times New Roman"/>
              </a:rPr>
              <a:t>TOPAS Workbench Architecture</a:t>
            </a:r>
          </a:p>
        </p:txBody>
      </p:sp>
      <p:pic>
        <p:nvPicPr>
          <p:cNvPr id="4" name="Picture 3"/>
          <p:cNvPicPr>
            <a:picLocks noChangeAspect="1"/>
          </p:cNvPicPr>
          <p:nvPr/>
        </p:nvPicPr>
        <p:blipFill>
          <a:blip r:embed="rId3"/>
          <a:stretch>
            <a:fillRect/>
          </a:stretch>
        </p:blipFill>
        <p:spPr>
          <a:xfrm>
            <a:off x="0" y="936159"/>
            <a:ext cx="9144000" cy="5903303"/>
          </a:xfrm>
          <a:prstGeom prst="rect">
            <a:avLst/>
          </a:prstGeom>
        </p:spPr>
      </p:pic>
    </p:spTree>
    <p:extLst>
      <p:ext uri="{BB962C8B-B14F-4D97-AF65-F5344CB8AC3E}">
        <p14:creationId xmlns:p14="http://schemas.microsoft.com/office/powerpoint/2010/main" val="40534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5190"/>
            <a:ext cx="8229600" cy="1143000"/>
          </a:xfrm>
        </p:spPr>
        <p:txBody>
          <a:bodyPr/>
          <a:lstStyle/>
          <a:p>
            <a:r>
              <a:rPr lang="en-US" dirty="0">
                <a:solidFill>
                  <a:schemeClr val="accent1"/>
                </a:solidFill>
                <a:latin typeface="Times New Roman"/>
                <a:cs typeface="Times New Roman"/>
              </a:rPr>
              <a:t>TOPAS Workbench - GATE</a:t>
            </a:r>
          </a:p>
        </p:txBody>
      </p:sp>
      <p:sp>
        <p:nvSpPr>
          <p:cNvPr id="3" name="Content Placeholder 2"/>
          <p:cNvSpPr>
            <a:spLocks noGrp="1"/>
          </p:cNvSpPr>
          <p:nvPr>
            <p:ph idx="1"/>
          </p:nvPr>
        </p:nvSpPr>
        <p:spPr>
          <a:xfrm>
            <a:off x="457200" y="1474297"/>
            <a:ext cx="8229600" cy="4292872"/>
          </a:xfrm>
        </p:spPr>
        <p:txBody>
          <a:bodyPr>
            <a:normAutofit/>
          </a:bodyPr>
          <a:lstStyle/>
          <a:p>
            <a:pPr algn="just"/>
            <a:r>
              <a:rPr lang="en-US" sz="2500" dirty="0">
                <a:latin typeface="Times New Roman"/>
                <a:cs typeface="Times New Roman"/>
              </a:rPr>
              <a:t>A patent chosen for closer inspection is stored, after being preprocessed in GATE format. The modules are developed in JAPE or integrated into GATE by wrapping mechanism. </a:t>
            </a:r>
          </a:p>
          <a:p>
            <a:pPr algn="just"/>
            <a:r>
              <a:rPr lang="en-US" sz="2500" dirty="0">
                <a:latin typeface="Times New Roman"/>
                <a:cs typeface="Times New Roman"/>
              </a:rPr>
              <a:t>The module is processed in proprietary format, so GATE-format is transformed and the output is transferred back into GATE-format.</a:t>
            </a:r>
          </a:p>
          <a:p>
            <a:pPr algn="just"/>
            <a:r>
              <a:rPr lang="en-US" sz="2500" dirty="0">
                <a:latin typeface="Times New Roman"/>
                <a:cs typeface="Times New Roman"/>
              </a:rPr>
              <a:t>The use of GATE ensures the flexibility. </a:t>
            </a:r>
          </a:p>
          <a:p>
            <a:pPr lvl="0" algn="just">
              <a:buClr>
                <a:srgbClr val="0072BC"/>
              </a:buClr>
            </a:pPr>
            <a:endParaRPr lang="en-US" dirty="0"/>
          </a:p>
        </p:txBody>
      </p:sp>
    </p:spTree>
    <p:extLst>
      <p:ext uri="{BB962C8B-B14F-4D97-AF65-F5344CB8AC3E}">
        <p14:creationId xmlns:p14="http://schemas.microsoft.com/office/powerpoint/2010/main" val="3646474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5190"/>
            <a:ext cx="8229600" cy="1143000"/>
          </a:xfrm>
        </p:spPr>
        <p:txBody>
          <a:bodyPr/>
          <a:lstStyle/>
          <a:p>
            <a:r>
              <a:rPr lang="en-US" dirty="0">
                <a:solidFill>
                  <a:schemeClr val="accent1"/>
                </a:solidFill>
                <a:latin typeface="Times New Roman"/>
                <a:cs typeface="Times New Roman"/>
              </a:rPr>
              <a:t>TOPAS Workbench - Preprocessor	</a:t>
            </a:r>
          </a:p>
        </p:txBody>
      </p:sp>
      <p:sp>
        <p:nvSpPr>
          <p:cNvPr id="3" name="Content Placeholder 2"/>
          <p:cNvSpPr>
            <a:spLocks noGrp="1"/>
          </p:cNvSpPr>
          <p:nvPr>
            <p:ph idx="1"/>
          </p:nvPr>
        </p:nvSpPr>
        <p:spPr>
          <a:xfrm>
            <a:off x="457200" y="1474297"/>
            <a:ext cx="8229600" cy="4292872"/>
          </a:xfrm>
        </p:spPr>
        <p:txBody>
          <a:bodyPr>
            <a:normAutofit/>
          </a:bodyPr>
          <a:lstStyle/>
          <a:p>
            <a:pPr algn="just"/>
            <a:r>
              <a:rPr lang="en-US" sz="2500" dirty="0">
                <a:latin typeface="Times New Roman"/>
                <a:cs typeface="Times New Roman"/>
              </a:rPr>
              <a:t>The preprocessor module sends a series of processing tools like parts-of-speech, </a:t>
            </a:r>
            <a:r>
              <a:rPr lang="en-US" sz="2500" dirty="0" err="1">
                <a:latin typeface="Times New Roman"/>
                <a:cs typeface="Times New Roman"/>
              </a:rPr>
              <a:t>lemmatizer</a:t>
            </a:r>
            <a:r>
              <a:rPr lang="en-US" sz="2500" dirty="0">
                <a:latin typeface="Times New Roman"/>
                <a:cs typeface="Times New Roman"/>
              </a:rPr>
              <a:t>, parse, NLP, GATE’s tokenizer etc.</a:t>
            </a:r>
          </a:p>
          <a:p>
            <a:pPr algn="just"/>
            <a:r>
              <a:rPr lang="en-US" sz="2500" dirty="0">
                <a:latin typeface="Times New Roman"/>
                <a:cs typeface="Times New Roman"/>
              </a:rPr>
              <a:t>They choose MATE tool, as it can handle very long sentences of up to 900 words and also they is a possibility to retrain them in order to adapt to their own domain. </a:t>
            </a:r>
            <a:endParaRPr lang="en-US" dirty="0"/>
          </a:p>
        </p:txBody>
      </p:sp>
    </p:spTree>
    <p:extLst>
      <p:ext uri="{BB962C8B-B14F-4D97-AF65-F5344CB8AC3E}">
        <p14:creationId xmlns:p14="http://schemas.microsoft.com/office/powerpoint/2010/main" val="387062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Entity Recognition</a:t>
            </a:r>
          </a:p>
        </p:txBody>
      </p:sp>
      <p:sp>
        <p:nvSpPr>
          <p:cNvPr id="3" name="Content Placeholder 2"/>
          <p:cNvSpPr>
            <a:spLocks noGrp="1"/>
          </p:cNvSpPr>
          <p:nvPr>
            <p:ph idx="1"/>
          </p:nvPr>
        </p:nvSpPr>
        <p:spPr/>
        <p:txBody>
          <a:bodyPr>
            <a:normAutofit fontScale="85000" lnSpcReduction="20000"/>
          </a:bodyPr>
          <a:lstStyle/>
          <a:p>
            <a:pPr algn="just"/>
            <a:r>
              <a:rPr lang="en-US" dirty="0"/>
              <a:t>A sequence of words is considered an entity term if</a:t>
            </a:r>
          </a:p>
          <a:p>
            <a:pPr lvl="2" algn="just"/>
            <a:r>
              <a:rPr lang="en-US" dirty="0"/>
              <a:t>It is a noun phrase</a:t>
            </a:r>
          </a:p>
          <a:p>
            <a:pPr lvl="2" algn="just"/>
            <a:r>
              <a:rPr lang="en-US" dirty="0"/>
              <a:t>It belongs to the domain of interest</a:t>
            </a:r>
          </a:p>
          <a:p>
            <a:pPr algn="just"/>
            <a:r>
              <a:rPr lang="en-US" dirty="0"/>
              <a:t>deals with two types of recognitions</a:t>
            </a:r>
          </a:p>
          <a:p>
            <a:pPr lvl="2" algn="just"/>
            <a:r>
              <a:rPr lang="en-US" dirty="0"/>
              <a:t>Predefined</a:t>
            </a:r>
          </a:p>
          <a:p>
            <a:pPr lvl="2" algn="just"/>
            <a:r>
              <a:rPr lang="en-US" dirty="0"/>
              <a:t>Generic</a:t>
            </a:r>
          </a:p>
          <a:p>
            <a:pPr algn="just"/>
            <a:r>
              <a:rPr lang="en-US" dirty="0"/>
              <a:t>Predefined term types: patent citations, physical measurements, technical quality entities, substances, processes</a:t>
            </a:r>
          </a:p>
          <a:p>
            <a:pPr algn="just"/>
            <a:r>
              <a:rPr lang="en-US" dirty="0"/>
              <a:t>Generic entities: product names, brand names, machine components, etc.</a:t>
            </a:r>
          </a:p>
          <a:p>
            <a:pPr algn="just"/>
            <a:endParaRPr lang="en-US" dirty="0"/>
          </a:p>
          <a:p>
            <a:pPr lvl="2" algn="just"/>
            <a:endParaRPr lang="en-US" dirty="0"/>
          </a:p>
        </p:txBody>
      </p:sp>
    </p:spTree>
    <p:extLst>
      <p:ext uri="{BB962C8B-B14F-4D97-AF65-F5344CB8AC3E}">
        <p14:creationId xmlns:p14="http://schemas.microsoft.com/office/powerpoint/2010/main" val="373916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accent1"/>
                </a:solidFill>
              </a:rPr>
              <a:t>Predefined Term Type Recognition</a:t>
            </a:r>
          </a:p>
        </p:txBody>
      </p:sp>
      <p:sp>
        <p:nvSpPr>
          <p:cNvPr id="3" name="Content Placeholder 2"/>
          <p:cNvSpPr>
            <a:spLocks noGrp="1"/>
          </p:cNvSpPr>
          <p:nvPr>
            <p:ph idx="1"/>
          </p:nvPr>
        </p:nvSpPr>
        <p:spPr/>
        <p:txBody>
          <a:bodyPr>
            <a:normAutofit fontScale="92500" lnSpcReduction="10000"/>
          </a:bodyPr>
          <a:lstStyle/>
          <a:p>
            <a:pPr algn="just"/>
            <a:r>
              <a:rPr lang="en-US" dirty="0"/>
              <a:t>Patent citations and physical measurements are recognized using regular expressions</a:t>
            </a:r>
          </a:p>
          <a:p>
            <a:pPr algn="just"/>
            <a:r>
              <a:rPr lang="en-US" dirty="0"/>
              <a:t>F</a:t>
            </a:r>
            <a:r>
              <a:rPr lang="en-US" baseline="-25000" dirty="0"/>
              <a:t>1</a:t>
            </a:r>
            <a:r>
              <a:rPr lang="en-US" dirty="0"/>
              <a:t>–score of 1 indicates that regex based patent citation recognition works well</a:t>
            </a:r>
            <a:endParaRPr lang="en-US" baseline="-25000" dirty="0"/>
          </a:p>
          <a:p>
            <a:pPr algn="just"/>
            <a:r>
              <a:rPr lang="en-US" dirty="0"/>
              <a:t>Due to ambiguity in physical measurement F</a:t>
            </a:r>
            <a:r>
              <a:rPr lang="en-US" baseline="-25000" dirty="0"/>
              <a:t>1</a:t>
            </a:r>
            <a:r>
              <a:rPr lang="en-US" dirty="0"/>
              <a:t>–score is limited to 0.58</a:t>
            </a:r>
          </a:p>
          <a:p>
            <a:pPr algn="just"/>
            <a:r>
              <a:rPr lang="en-US" dirty="0"/>
              <a:t>The other types are recognized by matching the tokens of a given document with entries in gazetteer lists giving an accuracy of 0.95-0.99</a:t>
            </a:r>
          </a:p>
          <a:p>
            <a:pPr algn="just"/>
            <a:endParaRPr lang="en-US" dirty="0"/>
          </a:p>
        </p:txBody>
      </p:sp>
    </p:spTree>
    <p:extLst>
      <p:ext uri="{BB962C8B-B14F-4D97-AF65-F5344CB8AC3E}">
        <p14:creationId xmlns:p14="http://schemas.microsoft.com/office/powerpoint/2010/main" val="278288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Generic Entity Recognition</a:t>
            </a:r>
          </a:p>
        </p:txBody>
      </p:sp>
      <p:sp>
        <p:nvSpPr>
          <p:cNvPr id="3" name="Content Placeholder 2"/>
          <p:cNvSpPr>
            <a:spLocks noGrp="1"/>
          </p:cNvSpPr>
          <p:nvPr>
            <p:ph idx="1"/>
          </p:nvPr>
        </p:nvSpPr>
        <p:spPr/>
        <p:txBody>
          <a:bodyPr>
            <a:normAutofit fontScale="85000" lnSpcReduction="10000"/>
          </a:bodyPr>
          <a:lstStyle/>
          <a:p>
            <a:pPr algn="just"/>
            <a:r>
              <a:rPr lang="en-US" dirty="0"/>
              <a:t>Firstly, preprocessed patents are filtered to collect term candidates</a:t>
            </a:r>
          </a:p>
          <a:p>
            <a:pPr algn="just"/>
            <a:r>
              <a:rPr lang="en-US" dirty="0"/>
              <a:t>Then a statistical model is used to distinguish terms that represent technical entities from those that do not</a:t>
            </a:r>
          </a:p>
          <a:p>
            <a:pPr algn="just"/>
            <a:r>
              <a:rPr lang="en-US" dirty="0"/>
              <a:t>The model determines the probability of a candidate to be technical based on a variety of features</a:t>
            </a:r>
          </a:p>
          <a:p>
            <a:pPr marL="0" indent="0" algn="just">
              <a:buNone/>
            </a:pPr>
            <a:r>
              <a:rPr lang="en-US" dirty="0"/>
              <a:t>   E.g. frequency,position,overlap</a:t>
            </a:r>
          </a:p>
          <a:p>
            <a:pPr algn="just"/>
            <a:r>
              <a:rPr lang="en-US" dirty="0"/>
              <a:t>The model is trained with data that is generated by an automatic procedure with high reliability</a:t>
            </a:r>
          </a:p>
        </p:txBody>
      </p:sp>
    </p:spTree>
    <p:extLst>
      <p:ext uri="{BB962C8B-B14F-4D97-AF65-F5344CB8AC3E}">
        <p14:creationId xmlns:p14="http://schemas.microsoft.com/office/powerpoint/2010/main" val="3511579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Lexical Chain Identification</a:t>
            </a:r>
          </a:p>
        </p:txBody>
      </p:sp>
      <p:sp>
        <p:nvSpPr>
          <p:cNvPr id="3" name="Content Placeholder 2"/>
          <p:cNvSpPr>
            <a:spLocks noGrp="1"/>
          </p:cNvSpPr>
          <p:nvPr>
            <p:ph idx="1"/>
          </p:nvPr>
        </p:nvSpPr>
        <p:spPr/>
        <p:txBody>
          <a:bodyPr>
            <a:normAutofit fontScale="77500" lnSpcReduction="20000"/>
          </a:bodyPr>
          <a:lstStyle/>
          <a:p>
            <a:pPr algn="just"/>
            <a:r>
              <a:rPr lang="en-US" dirty="0"/>
              <a:t>Defines a sequence of terms related by a sematic relation</a:t>
            </a:r>
          </a:p>
          <a:p>
            <a:pPr algn="just"/>
            <a:r>
              <a:rPr lang="en-US" dirty="0"/>
              <a:t>Based on Stanford Deterministic </a:t>
            </a:r>
            <a:r>
              <a:rPr lang="en-US" dirty="0" err="1"/>
              <a:t>Coreference</a:t>
            </a:r>
            <a:r>
              <a:rPr lang="en-US" dirty="0"/>
              <a:t> Resolution System(</a:t>
            </a:r>
            <a:r>
              <a:rPr lang="en-US" dirty="0" err="1"/>
              <a:t>StCR</a:t>
            </a:r>
            <a:r>
              <a:rPr lang="en-US" dirty="0"/>
              <a:t>) which consists of candidate detection, </a:t>
            </a:r>
            <a:r>
              <a:rPr lang="en-US" dirty="0" err="1"/>
              <a:t>coreference</a:t>
            </a:r>
            <a:r>
              <a:rPr lang="en-US" dirty="0"/>
              <a:t> resolution and post- processing </a:t>
            </a:r>
          </a:p>
          <a:p>
            <a:pPr algn="just"/>
            <a:r>
              <a:rPr lang="en-US" dirty="0"/>
              <a:t>Some changes were made to customize </a:t>
            </a:r>
            <a:r>
              <a:rPr lang="en-US" dirty="0" err="1"/>
              <a:t>StCR</a:t>
            </a:r>
            <a:r>
              <a:rPr lang="en-US" dirty="0"/>
              <a:t> for domain of patents which include an improvised pipeline.</a:t>
            </a:r>
          </a:p>
          <a:p>
            <a:pPr algn="just"/>
            <a:r>
              <a:rPr lang="en-US" dirty="0"/>
              <a:t>The source code was refactored to suit other languages as well.</a:t>
            </a:r>
          </a:p>
          <a:p>
            <a:pPr algn="just"/>
            <a:r>
              <a:rPr lang="en-US" dirty="0"/>
              <a:t>A pdf-interface was used for inspection of lexical chains by experts.</a:t>
            </a:r>
          </a:p>
        </p:txBody>
      </p:sp>
    </p:spTree>
    <p:extLst>
      <p:ext uri="{BB962C8B-B14F-4D97-AF65-F5344CB8AC3E}">
        <p14:creationId xmlns:p14="http://schemas.microsoft.com/office/powerpoint/2010/main" val="331200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Invention Composition Extraction</a:t>
            </a:r>
          </a:p>
        </p:txBody>
      </p:sp>
      <p:sp>
        <p:nvSpPr>
          <p:cNvPr id="3" name="Content Placeholder 2"/>
          <p:cNvSpPr>
            <a:spLocks noGrp="1"/>
          </p:cNvSpPr>
          <p:nvPr>
            <p:ph idx="1"/>
          </p:nvPr>
        </p:nvSpPr>
        <p:spPr/>
        <p:txBody>
          <a:bodyPr>
            <a:normAutofit fontScale="92500" lnSpcReduction="10000"/>
          </a:bodyPr>
          <a:lstStyle/>
          <a:p>
            <a:pPr algn="just"/>
            <a:r>
              <a:rPr lang="en-US" dirty="0"/>
              <a:t>segment each claim into text spans that describe a component of an invention</a:t>
            </a:r>
          </a:p>
          <a:p>
            <a:pPr algn="just"/>
            <a:r>
              <a:rPr lang="en-US" dirty="0"/>
              <a:t>Classify the obtained spans based on linguistic cues</a:t>
            </a:r>
          </a:p>
          <a:p>
            <a:pPr algn="just"/>
            <a:r>
              <a:rPr lang="en-US" dirty="0"/>
              <a:t>Identify corresponding components within the spans using a domain- specific grammar &amp;results of entity recognition</a:t>
            </a:r>
          </a:p>
          <a:p>
            <a:pPr algn="just"/>
            <a:r>
              <a:rPr lang="en-US" dirty="0"/>
              <a:t>Mark parts of an invention in the description section thus aiding the composition with description as well.</a:t>
            </a:r>
          </a:p>
          <a:p>
            <a:pPr marL="0" indent="0" algn="just">
              <a:buNone/>
            </a:pPr>
            <a:endParaRPr lang="en-US" dirty="0"/>
          </a:p>
        </p:txBody>
      </p:sp>
    </p:spTree>
    <p:extLst>
      <p:ext uri="{BB962C8B-B14F-4D97-AF65-F5344CB8AC3E}">
        <p14:creationId xmlns:p14="http://schemas.microsoft.com/office/powerpoint/2010/main" val="227197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701" y="544918"/>
            <a:ext cx="7886700" cy="906430"/>
          </a:xfrm>
        </p:spPr>
        <p:txBody>
          <a:bodyPr>
            <a:normAutofit/>
          </a:bodyPr>
          <a:lstStyle/>
          <a:p>
            <a:pPr algn="ctr"/>
            <a:r>
              <a:rPr lang="en-US" sz="3500" dirty="0">
                <a:latin typeface="Times New Roman" panose="02020603050405020304" pitchFamily="18" charset="0"/>
                <a:cs typeface="Times New Roman" panose="02020603050405020304" pitchFamily="18" charset="0"/>
              </a:rPr>
              <a:t>Segmentation</a:t>
            </a:r>
          </a:p>
        </p:txBody>
      </p:sp>
      <p:sp>
        <p:nvSpPr>
          <p:cNvPr id="3" name="Content Placeholder 2"/>
          <p:cNvSpPr>
            <a:spLocks noGrp="1"/>
          </p:cNvSpPr>
          <p:nvPr>
            <p:ph idx="1"/>
          </p:nvPr>
        </p:nvSpPr>
        <p:spPr>
          <a:xfrm>
            <a:off x="628650" y="1654969"/>
            <a:ext cx="7886700" cy="3263504"/>
          </a:xfrm>
        </p:spPr>
        <p:txBody>
          <a:bodyPr>
            <a:normAutofit/>
          </a:bodyPr>
          <a:lstStyle/>
          <a:p>
            <a:r>
              <a:rPr lang="en-US" sz="1500" dirty="0">
                <a:latin typeface="Times New Roman" panose="02020603050405020304" pitchFamily="18" charset="0"/>
                <a:cs typeface="Times New Roman" panose="02020603050405020304" pitchFamily="18" charset="0"/>
              </a:rPr>
              <a:t>Segmentation of description of a patent is done at three different levels of abstraction.</a:t>
            </a:r>
          </a:p>
          <a:p>
            <a:pPr marL="0" indent="0">
              <a:buNone/>
            </a:pPr>
            <a:r>
              <a:rPr lang="en-US" sz="1500" dirty="0">
                <a:latin typeface="Times New Roman" panose="02020603050405020304" pitchFamily="18" charset="0"/>
                <a:cs typeface="Times New Roman" panose="02020603050405020304" pitchFamily="18" charset="0"/>
              </a:rPr>
              <a:t>   1</a:t>
            </a:r>
            <a:r>
              <a:rPr lang="en-US" sz="1500" baseline="30000" dirty="0">
                <a:latin typeface="Times New Roman" panose="02020603050405020304" pitchFamily="18" charset="0"/>
                <a:cs typeface="Times New Roman" panose="02020603050405020304" pitchFamily="18" charset="0"/>
              </a:rPr>
              <a:t>st</a:t>
            </a:r>
            <a:r>
              <a:rPr lang="en-US" sz="1500" dirty="0">
                <a:latin typeface="Times New Roman" panose="02020603050405020304" pitchFamily="18" charset="0"/>
                <a:cs typeface="Times New Roman" panose="02020603050405020304" pitchFamily="18" charset="0"/>
              </a:rPr>
              <a:t> Level – Broad Section-wise Partition</a:t>
            </a:r>
          </a:p>
          <a:p>
            <a:pPr marL="0" indent="0">
              <a:buNone/>
            </a:pPr>
            <a:r>
              <a:rPr lang="en-US" sz="1500" dirty="0">
                <a:latin typeface="Times New Roman" panose="02020603050405020304" pitchFamily="18" charset="0"/>
                <a:cs typeface="Times New Roman" panose="02020603050405020304" pitchFamily="18" charset="0"/>
              </a:rPr>
              <a:t>   2</a:t>
            </a:r>
            <a:r>
              <a:rPr lang="en-US" sz="1500" baseline="30000" dirty="0">
                <a:latin typeface="Times New Roman" panose="02020603050405020304" pitchFamily="18" charset="0"/>
                <a:cs typeface="Times New Roman" panose="02020603050405020304" pitchFamily="18" charset="0"/>
              </a:rPr>
              <a:t>nd</a:t>
            </a:r>
            <a:r>
              <a:rPr lang="en-US" sz="1500" dirty="0">
                <a:latin typeface="Times New Roman" panose="02020603050405020304" pitchFamily="18" charset="0"/>
                <a:cs typeface="Times New Roman" panose="02020603050405020304" pitchFamily="18" charset="0"/>
              </a:rPr>
              <a:t> Level – Thematic Zoning of Individual Section</a:t>
            </a:r>
          </a:p>
          <a:p>
            <a:pPr marL="0" indent="0">
              <a:buNone/>
            </a:pPr>
            <a:r>
              <a:rPr lang="en-US" sz="1500" dirty="0">
                <a:latin typeface="Times New Roman" panose="02020603050405020304" pitchFamily="18" charset="0"/>
                <a:cs typeface="Times New Roman" panose="02020603050405020304" pitchFamily="18" charset="0"/>
              </a:rPr>
              <a:t>   3</a:t>
            </a:r>
            <a:r>
              <a:rPr lang="en-US" sz="1500" baseline="30000" dirty="0">
                <a:latin typeface="Times New Roman" panose="02020603050405020304" pitchFamily="18" charset="0"/>
                <a:cs typeface="Times New Roman" panose="02020603050405020304" pitchFamily="18" charset="0"/>
              </a:rPr>
              <a:t>rd</a:t>
            </a:r>
            <a:r>
              <a:rPr lang="en-US" sz="1500" dirty="0">
                <a:latin typeface="Times New Roman" panose="02020603050405020304" pitchFamily="18" charset="0"/>
                <a:cs typeface="Times New Roman" panose="02020603050405020304" pitchFamily="18" charset="0"/>
              </a:rPr>
              <a:t> Level – Topic-oriented division.</a:t>
            </a:r>
          </a:p>
          <a:p>
            <a:pPr marL="0" indent="0">
              <a:buNone/>
            </a:pPr>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783772" y="2567085"/>
            <a:ext cx="5296289" cy="970334"/>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b="1" dirty="0">
                <a:latin typeface="Times New Roman" panose="02020603050405020304" pitchFamily="18" charset="0"/>
                <a:cs typeface="Times New Roman" panose="02020603050405020304" pitchFamily="18" charset="0"/>
              </a:rPr>
              <a:t>1</a:t>
            </a:r>
            <a:r>
              <a:rPr lang="en-US" sz="1500" b="1" baseline="30000" dirty="0">
                <a:latin typeface="Times New Roman" panose="02020603050405020304" pitchFamily="18" charset="0"/>
                <a:cs typeface="Times New Roman" panose="02020603050405020304" pitchFamily="18" charset="0"/>
              </a:rPr>
              <a:t>st</a:t>
            </a:r>
            <a:r>
              <a:rPr lang="en-US" sz="1500" b="1" dirty="0">
                <a:latin typeface="Times New Roman" panose="02020603050405020304" pitchFamily="18" charset="0"/>
                <a:cs typeface="Times New Roman" panose="02020603050405020304" pitchFamily="18" charset="0"/>
              </a:rPr>
              <a:t> Level Segmentation:</a:t>
            </a:r>
          </a:p>
        </p:txBody>
      </p:sp>
      <p:sp>
        <p:nvSpPr>
          <p:cNvPr id="5" name="Content Placeholder 2"/>
          <p:cNvSpPr txBox="1">
            <a:spLocks/>
          </p:cNvSpPr>
          <p:nvPr/>
        </p:nvSpPr>
        <p:spPr>
          <a:xfrm>
            <a:off x="628650" y="3215513"/>
            <a:ext cx="7886700" cy="2248727"/>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latin typeface="Times New Roman" panose="02020603050405020304" pitchFamily="18" charset="0"/>
                <a:cs typeface="Times New Roman" panose="02020603050405020304" pitchFamily="18" charset="0"/>
              </a:rPr>
              <a:t>Here, the patent is divided in to five mandatory and two optional segments.</a:t>
            </a:r>
          </a:p>
          <a:p>
            <a:pPr marL="0" indent="0">
              <a:buNone/>
            </a:pPr>
            <a:r>
              <a:rPr lang="en-US" sz="1500" dirty="0">
                <a:latin typeface="Times New Roman" panose="02020603050405020304" pitchFamily="18" charset="0"/>
                <a:cs typeface="Times New Roman" panose="02020603050405020304" pitchFamily="18" charset="0"/>
              </a:rPr>
              <a:t>   Mandatory Segments:</a:t>
            </a:r>
          </a:p>
          <a:p>
            <a:pPr marL="0" indent="0">
              <a:buNone/>
            </a:pPr>
            <a:r>
              <a:rPr lang="en-US" sz="1500" dirty="0">
                <a:latin typeface="Times New Roman" panose="02020603050405020304" pitchFamily="18" charset="0"/>
                <a:cs typeface="Times New Roman" panose="02020603050405020304" pitchFamily="18" charset="0"/>
              </a:rPr>
              <a:t>   1. Technical Field.</a:t>
            </a:r>
          </a:p>
          <a:p>
            <a:pPr marL="0" indent="0">
              <a:buNone/>
            </a:pPr>
            <a:r>
              <a:rPr lang="en-US" sz="1500" dirty="0">
                <a:latin typeface="Times New Roman" panose="02020603050405020304" pitchFamily="18" charset="0"/>
                <a:cs typeface="Times New Roman" panose="02020603050405020304" pitchFamily="18" charset="0"/>
              </a:rPr>
              <a:t>   2. Background Art.</a:t>
            </a:r>
          </a:p>
          <a:p>
            <a:pPr marL="0" indent="0">
              <a:buNone/>
            </a:pPr>
            <a:r>
              <a:rPr lang="en-US" sz="1500" dirty="0">
                <a:latin typeface="Times New Roman" panose="02020603050405020304" pitchFamily="18" charset="0"/>
                <a:cs typeface="Times New Roman" panose="02020603050405020304" pitchFamily="18" charset="0"/>
              </a:rPr>
              <a:t>   3. Summary of the Invention.</a:t>
            </a:r>
          </a:p>
          <a:p>
            <a:pPr marL="0" indent="0">
              <a:buNone/>
            </a:pPr>
            <a:r>
              <a:rPr lang="en-US" sz="1500" dirty="0">
                <a:latin typeface="Times New Roman" panose="02020603050405020304" pitchFamily="18" charset="0"/>
                <a:cs typeface="Times New Roman" panose="02020603050405020304" pitchFamily="18" charset="0"/>
              </a:rPr>
              <a:t>   4. Description of the Drawings.</a:t>
            </a:r>
          </a:p>
          <a:p>
            <a:pPr marL="0" indent="0">
              <a:buNone/>
            </a:pPr>
            <a:r>
              <a:rPr lang="en-US" sz="1500" dirty="0">
                <a:latin typeface="Times New Roman" panose="02020603050405020304" pitchFamily="18" charset="0"/>
                <a:cs typeface="Times New Roman" panose="02020603050405020304" pitchFamily="18" charset="0"/>
              </a:rPr>
              <a:t>   5. Preferred Embodiments.</a:t>
            </a:r>
          </a:p>
        </p:txBody>
      </p:sp>
      <p:graphicFrame>
        <p:nvGraphicFramePr>
          <p:cNvPr id="6" name="Table 5"/>
          <p:cNvGraphicFramePr>
            <a:graphicFrameLocks noGrp="1"/>
          </p:cNvGraphicFramePr>
          <p:nvPr>
            <p:extLst>
              <p:ext uri="{D42A27DB-BD31-4B8C-83A1-F6EECF244321}">
                <p14:modId xmlns:p14="http://schemas.microsoft.com/office/powerpoint/2010/main" val="2274914032"/>
              </p:ext>
            </p:extLst>
          </p:nvPr>
        </p:nvGraphicFramePr>
        <p:xfrm>
          <a:off x="4713126" y="3537419"/>
          <a:ext cx="3346580" cy="1280160"/>
        </p:xfrm>
        <a:graphic>
          <a:graphicData uri="http://schemas.openxmlformats.org/drawingml/2006/table">
            <a:tbl>
              <a:tblPr firstRow="1" bandRow="1">
                <a:tableStyleId>{2D5ABB26-0587-4C30-8999-92F81FD0307C}</a:tableStyleId>
              </a:tblPr>
              <a:tblGrid>
                <a:gridCol w="3346580">
                  <a:extLst>
                    <a:ext uri="{9D8B030D-6E8A-4147-A177-3AD203B41FA5}">
                      <a16:colId xmlns:a16="http://schemas.microsoft.com/office/drawing/2014/main" val="2421715949"/>
                    </a:ext>
                  </a:extLst>
                </a:gridCol>
              </a:tblGrid>
              <a:tr h="982980">
                <a:tc>
                  <a:txBody>
                    <a:bodyPr/>
                    <a:lstStyle/>
                    <a:p>
                      <a:r>
                        <a:rPr lang="en-US" sz="1500" dirty="0">
                          <a:latin typeface="Times New Roman" panose="02020603050405020304" pitchFamily="18" charset="0"/>
                          <a:cs typeface="Times New Roman" panose="02020603050405020304" pitchFamily="18" charset="0"/>
                        </a:rPr>
                        <a:t>Optional Segments:</a:t>
                      </a:r>
                    </a:p>
                    <a:p>
                      <a:pPr marL="514350" indent="-514350">
                        <a:buAutoNum type="arabicPeriod"/>
                      </a:pPr>
                      <a:r>
                        <a:rPr lang="en-US" sz="1500" dirty="0">
                          <a:latin typeface="Times New Roman" panose="02020603050405020304" pitchFamily="18" charset="0"/>
                          <a:cs typeface="Times New Roman" panose="02020603050405020304" pitchFamily="18" charset="0"/>
                        </a:rPr>
                        <a:t>Industrial</a:t>
                      </a:r>
                      <a:r>
                        <a:rPr lang="en-US" sz="1500" baseline="0" dirty="0">
                          <a:latin typeface="Times New Roman" panose="02020603050405020304" pitchFamily="18" charset="0"/>
                          <a:cs typeface="Times New Roman" panose="02020603050405020304" pitchFamily="18" charset="0"/>
                        </a:rPr>
                        <a:t> Applicability.</a:t>
                      </a:r>
                    </a:p>
                    <a:p>
                      <a:pPr marL="514350" indent="-514350">
                        <a:buAutoNum type="arabicPeriod"/>
                      </a:pPr>
                      <a:r>
                        <a:rPr lang="en-US" sz="1500" baseline="0" dirty="0">
                          <a:latin typeface="Times New Roman" panose="02020603050405020304" pitchFamily="18" charset="0"/>
                          <a:cs typeface="Times New Roman" panose="02020603050405020304" pitchFamily="18" charset="0"/>
                        </a:rPr>
                        <a:t>Examples.</a:t>
                      </a:r>
                    </a:p>
                    <a:p>
                      <a:pPr marL="514350" indent="-514350">
                        <a:buAutoNum type="arabicPeriod"/>
                      </a:pPr>
                      <a:endParaRPr lang="en-US" sz="15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2372866091"/>
                  </a:ext>
                </a:extLst>
              </a:tr>
              <a:tr h="297180">
                <a:tc>
                  <a:txBody>
                    <a:bodyPr/>
                    <a:lstStyle/>
                    <a:p>
                      <a:endParaRPr lang="en-US" sz="15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3073346110"/>
                  </a:ext>
                </a:extLst>
              </a:tr>
            </a:tbl>
          </a:graphicData>
        </a:graphic>
      </p:graphicFrame>
    </p:spTree>
    <p:extLst>
      <p:ext uri="{BB962C8B-B14F-4D97-AF65-F5344CB8AC3E}">
        <p14:creationId xmlns:p14="http://schemas.microsoft.com/office/powerpoint/2010/main" val="387972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5669" y="728954"/>
            <a:ext cx="7886700" cy="4772608"/>
          </a:xfrm>
        </p:spPr>
        <p:txBody>
          <a:bodyPr>
            <a:normAutofit/>
          </a:bodyPr>
          <a:lstStyle/>
          <a:p>
            <a:r>
              <a:rPr lang="en-US" sz="1500" dirty="0">
                <a:latin typeface="Times New Roman" panose="02020603050405020304" pitchFamily="18" charset="0"/>
                <a:cs typeface="Times New Roman" panose="02020603050405020304" pitchFamily="18" charset="0"/>
              </a:rPr>
              <a:t>The Segmentation is done according to the above list by using the headlines which indicate the start of a respective segment.</a:t>
            </a:r>
          </a:p>
          <a:p>
            <a:r>
              <a:rPr lang="en-US" sz="1500" dirty="0">
                <a:latin typeface="Times New Roman" panose="02020603050405020304" pitchFamily="18" charset="0"/>
                <a:cs typeface="Times New Roman" panose="02020603050405020304" pitchFamily="18" charset="0"/>
              </a:rPr>
              <a:t>If a headline is not present, then two strategies can be followed, first is 1</a:t>
            </a:r>
            <a:r>
              <a:rPr lang="en-US" sz="1500" baseline="30000" dirty="0">
                <a:latin typeface="Times New Roman" panose="02020603050405020304" pitchFamily="18" charset="0"/>
                <a:cs typeface="Times New Roman" panose="02020603050405020304" pitchFamily="18" charset="0"/>
              </a:rPr>
              <a:t>st</a:t>
            </a:r>
            <a:r>
              <a:rPr lang="en-US" sz="1500" dirty="0">
                <a:latin typeface="Times New Roman" panose="02020603050405020304" pitchFamily="18" charset="0"/>
                <a:cs typeface="Times New Roman" panose="02020603050405020304" pitchFamily="18" charset="0"/>
              </a:rPr>
              <a:t> on Heuristics and 2</a:t>
            </a:r>
            <a:r>
              <a:rPr lang="en-US" sz="1500" baseline="30000" dirty="0">
                <a:latin typeface="Times New Roman" panose="02020603050405020304" pitchFamily="18" charset="0"/>
                <a:cs typeface="Times New Roman" panose="02020603050405020304" pitchFamily="18" charset="0"/>
              </a:rPr>
              <a:t>nd</a:t>
            </a:r>
            <a:r>
              <a:rPr lang="en-US" sz="1500" dirty="0">
                <a:latin typeface="Times New Roman" panose="02020603050405020304" pitchFamily="18" charset="0"/>
                <a:cs typeface="Times New Roman" panose="02020603050405020304" pitchFamily="18" charset="0"/>
              </a:rPr>
              <a:t> on Conditional Random Fields (CRFs).</a:t>
            </a:r>
          </a:p>
          <a:p>
            <a:r>
              <a:rPr lang="en-US" sz="1500" dirty="0">
                <a:latin typeface="Times New Roman" panose="02020603050405020304" pitchFamily="18" charset="0"/>
                <a:cs typeface="Times New Roman" panose="02020603050405020304" pitchFamily="18" charset="0"/>
              </a:rPr>
              <a:t>Heuristic Based Approach:</a:t>
            </a:r>
          </a:p>
          <a:p>
            <a:pPr marL="0" indent="0">
              <a:buNone/>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End of Technical Field/Start of Background Art (This is done by Text Mining Method </a:t>
            </a:r>
          </a:p>
          <a:p>
            <a:pPr marL="0" indent="0">
              <a:buNone/>
            </a:pPr>
            <a:r>
              <a:rPr lang="en-US" sz="1500" dirty="0">
                <a:latin typeface="Times New Roman" panose="02020603050405020304" pitchFamily="18" charset="0"/>
                <a:cs typeface="Times New Roman" panose="02020603050405020304" pitchFamily="18" charset="0"/>
              </a:rPr>
              <a:t>        developed by Tseng et al.)</a:t>
            </a:r>
          </a:p>
          <a:p>
            <a:pPr marL="0" indent="0">
              <a:buNone/>
            </a:pPr>
            <a:r>
              <a:rPr lang="en-US" sz="1500" dirty="0">
                <a:latin typeface="Times New Roman" panose="02020603050405020304" pitchFamily="18" charset="0"/>
                <a:cs typeface="Times New Roman" panose="02020603050405020304" pitchFamily="18" charset="0"/>
              </a:rPr>
              <a:t>    (ii) The End of Background Art/Start of Summary (This is done by observing if an objective of the </a:t>
            </a:r>
          </a:p>
          <a:p>
            <a:pPr marL="0" indent="0">
              <a:buNone/>
            </a:pPr>
            <a:r>
              <a:rPr lang="en-US" sz="1500" dirty="0">
                <a:latin typeface="Times New Roman" panose="02020603050405020304" pitchFamily="18" charset="0"/>
                <a:cs typeface="Times New Roman" panose="02020603050405020304" pitchFamily="18" charset="0"/>
              </a:rPr>
              <a:t>          invention is mentioned in the summary of invention)</a:t>
            </a:r>
          </a:p>
          <a:p>
            <a:pPr marL="0" indent="0">
              <a:buNone/>
            </a:pPr>
            <a:r>
              <a:rPr lang="en-US" sz="1500" dirty="0">
                <a:latin typeface="Times New Roman" panose="02020603050405020304" pitchFamily="18" charset="0"/>
                <a:cs typeface="Times New Roman" panose="02020603050405020304" pitchFamily="18" charset="0"/>
              </a:rPr>
              <a:t>   (iii) Start and End of Description of Drawings (This is done by observing explicit references to </a:t>
            </a:r>
          </a:p>
          <a:p>
            <a:pPr marL="0" indent="0">
              <a:buNone/>
            </a:pPr>
            <a:r>
              <a:rPr lang="en-US" sz="1500" dirty="0">
                <a:latin typeface="Times New Roman" panose="02020603050405020304" pitchFamily="18" charset="0"/>
                <a:cs typeface="Times New Roman" panose="02020603050405020304" pitchFamily="18" charset="0"/>
              </a:rPr>
              <a:t>          drawings and size of the descriptions of drawings)</a:t>
            </a:r>
          </a:p>
          <a:p>
            <a:r>
              <a:rPr lang="en-US" sz="1500" dirty="0">
                <a:latin typeface="Times New Roman" panose="02020603050405020304" pitchFamily="18" charset="0"/>
                <a:cs typeface="Times New Roman" panose="02020603050405020304" pitchFamily="18" charset="0"/>
              </a:rPr>
              <a:t>CRF Based Approach: This approach takes in training stage as input a sequence of paragraphs of the description, represented by a small number of features and labeled with the title of the Level 1 segment it belongs to, to learn the correlation between features and segment titles. In the classification stage then, this correlation is applied to deduce segment titles from the detected features.</a:t>
            </a:r>
          </a:p>
          <a:p>
            <a:r>
              <a:rPr lang="en-US" sz="1500" dirty="0">
                <a:latin typeface="Times New Roman" panose="02020603050405020304" pitchFamily="18" charset="0"/>
                <a:cs typeface="Times New Roman" panose="02020603050405020304" pitchFamily="18" charset="0"/>
              </a:rPr>
              <a:t>So, by above approaches, a confidence value is computed whether there is an explicit headline and if the both strategies coincide.</a:t>
            </a:r>
          </a:p>
          <a:p>
            <a:pPr marL="0" indent="0">
              <a:buNone/>
            </a:pP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0492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744" y="774199"/>
            <a:ext cx="7886700" cy="621895"/>
          </a:xfrm>
        </p:spPr>
        <p:txBody>
          <a:bodyPr>
            <a:noAutofit/>
          </a:bodyPr>
          <a:lstStyle/>
          <a:p>
            <a:pPr algn="ctr"/>
            <a:r>
              <a:rPr lang="en-US" sz="3500" dirty="0">
                <a:latin typeface="Times New Roman" panose="02020603050405020304" pitchFamily="18" charset="0"/>
                <a:cs typeface="Times New Roman" panose="02020603050405020304" pitchFamily="18" charset="0"/>
              </a:rPr>
              <a:t>2</a:t>
            </a:r>
            <a:r>
              <a:rPr lang="en-US" sz="3500" baseline="30000" dirty="0">
                <a:latin typeface="Times New Roman" panose="02020603050405020304" pitchFamily="18" charset="0"/>
                <a:cs typeface="Times New Roman" panose="02020603050405020304" pitchFamily="18" charset="0"/>
              </a:rPr>
              <a:t>nd</a:t>
            </a:r>
            <a:r>
              <a:rPr lang="en-US" sz="3500" dirty="0">
                <a:latin typeface="Times New Roman" panose="02020603050405020304" pitchFamily="18" charset="0"/>
                <a:cs typeface="Times New Roman" panose="02020603050405020304" pitchFamily="18" charset="0"/>
              </a:rPr>
              <a:t> Level Segmentation</a:t>
            </a:r>
          </a:p>
        </p:txBody>
      </p:sp>
      <p:sp>
        <p:nvSpPr>
          <p:cNvPr id="3" name="Content Placeholder 2"/>
          <p:cNvSpPr>
            <a:spLocks noGrp="1"/>
          </p:cNvSpPr>
          <p:nvPr>
            <p:ph idx="1"/>
          </p:nvPr>
        </p:nvSpPr>
        <p:spPr>
          <a:xfrm>
            <a:off x="628650" y="1592036"/>
            <a:ext cx="7810889" cy="3736984"/>
          </a:xfrm>
        </p:spPr>
        <p:txBody>
          <a:bodyPr>
            <a:normAutofit/>
          </a:bodyPr>
          <a:lstStyle/>
          <a:p>
            <a:r>
              <a:rPr lang="en-US" sz="1500" dirty="0">
                <a:latin typeface="Times New Roman" panose="02020603050405020304" pitchFamily="18" charset="0"/>
                <a:cs typeface="Times New Roman" panose="02020603050405020304" pitchFamily="18" charset="0"/>
              </a:rPr>
              <a:t>This level covers headline and topic transition segment recognition.</a:t>
            </a:r>
          </a:p>
          <a:p>
            <a:r>
              <a:rPr lang="en-US" sz="1500" dirty="0">
                <a:latin typeface="Times New Roman" panose="02020603050405020304" pitchFamily="18" charset="0"/>
                <a:cs typeface="Times New Roman" panose="02020603050405020304" pitchFamily="18" charset="0"/>
              </a:rPr>
              <a:t>As headlines are not explicitly marked in given data, a paragraph shorter than 100 characters and does not end with a sentence delimiter(.,!,:,?) is considered as a headline.</a:t>
            </a:r>
          </a:p>
          <a:p>
            <a:r>
              <a:rPr lang="en-US" sz="1500" dirty="0">
                <a:latin typeface="Times New Roman" panose="02020603050405020304" pitchFamily="18" charset="0"/>
                <a:cs typeface="Times New Roman" panose="02020603050405020304" pitchFamily="18" charset="0"/>
              </a:rPr>
              <a:t>These candidates are then classified as:</a:t>
            </a:r>
          </a:p>
          <a:p>
            <a:pPr marL="0" indent="0">
              <a:buNone/>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one of the level 1 segments.</a:t>
            </a:r>
          </a:p>
          <a:p>
            <a:pPr marL="0" indent="0">
              <a:buNone/>
            </a:pPr>
            <a:r>
              <a:rPr lang="en-US" sz="1500" dirty="0">
                <a:latin typeface="Times New Roman" panose="02020603050405020304" pitchFamily="18" charset="0"/>
                <a:cs typeface="Times New Roman" panose="02020603050405020304" pitchFamily="18" charset="0"/>
              </a:rPr>
              <a:t>   (ii) “Embodiment” headline (if a headline marks the beginning of an embodiment description)</a:t>
            </a:r>
          </a:p>
          <a:p>
            <a:pPr marL="0" indent="0">
              <a:buNone/>
            </a:pPr>
            <a:r>
              <a:rPr lang="en-US" sz="1500" dirty="0">
                <a:latin typeface="Times New Roman" panose="02020603050405020304" pitchFamily="18" charset="0"/>
                <a:cs typeface="Times New Roman" panose="02020603050405020304" pitchFamily="18" charset="0"/>
              </a:rPr>
              <a:t>  (iii) “figure” headline (if a headline marks the beginning of a figure description)</a:t>
            </a:r>
          </a:p>
          <a:p>
            <a:pPr marL="0" indent="0">
              <a:buNone/>
            </a:pPr>
            <a:r>
              <a:rPr lang="en-US" sz="1500" dirty="0">
                <a:latin typeface="Times New Roman" panose="02020603050405020304" pitchFamily="18" charset="0"/>
                <a:cs typeface="Times New Roman" panose="02020603050405020304" pitchFamily="18" charset="0"/>
              </a:rPr>
              <a:t>  (iv) “other” headline (if a headline marks the beginning of a topic specific to the invention as, e.g., </a:t>
            </a:r>
          </a:p>
          <a:p>
            <a:pPr marL="0" indent="0">
              <a:buNone/>
            </a:pPr>
            <a:r>
              <a:rPr lang="en-US" sz="1500" dirty="0">
                <a:latin typeface="Times New Roman" panose="02020603050405020304" pitchFamily="18" charset="0"/>
                <a:cs typeface="Times New Roman" panose="02020603050405020304" pitchFamily="18" charset="0"/>
              </a:rPr>
              <a:t>         “Structure of the carburetor 11”, which marks the beginning of the presentation of the   </a:t>
            </a:r>
          </a:p>
          <a:p>
            <a:pPr marL="0" indent="0">
              <a:buNone/>
            </a:pPr>
            <a:r>
              <a:rPr lang="en-US" sz="1500" dirty="0">
                <a:latin typeface="Times New Roman" panose="02020603050405020304" pitchFamily="18" charset="0"/>
                <a:cs typeface="Times New Roman" panose="02020603050405020304" pitchFamily="18" charset="0"/>
              </a:rPr>
              <a:t>          structure of the carburetor 11);</a:t>
            </a:r>
          </a:p>
          <a:p>
            <a:pPr marL="0" indent="0">
              <a:buNone/>
            </a:pPr>
            <a:r>
              <a:rPr lang="en-US" sz="1500" dirty="0">
                <a:latin typeface="Times New Roman" panose="02020603050405020304" pitchFamily="18" charset="0"/>
                <a:cs typeface="Times New Roman" panose="02020603050405020304" pitchFamily="18" charset="0"/>
              </a:rPr>
              <a:t>   (v) “</a:t>
            </a:r>
            <a:r>
              <a:rPr lang="en-US" sz="1500" dirty="0" err="1">
                <a:latin typeface="Times New Roman" panose="02020603050405020304" pitchFamily="18" charset="0"/>
                <a:cs typeface="Times New Roman" panose="02020603050405020304" pitchFamily="18" charset="0"/>
              </a:rPr>
              <a:t>no_headline</a:t>
            </a:r>
            <a:r>
              <a:rPr lang="en-US" sz="1500" dirty="0">
                <a:latin typeface="Times New Roman" panose="02020603050405020304" pitchFamily="18" charset="0"/>
                <a:cs typeface="Times New Roman" panose="02020603050405020304" pitchFamily="18" charset="0"/>
              </a:rPr>
              <a:t>”, if a candidate is not a headline.</a:t>
            </a:r>
          </a:p>
        </p:txBody>
      </p:sp>
    </p:spTree>
    <p:extLst>
      <p:ext uri="{BB962C8B-B14F-4D97-AF65-F5344CB8AC3E}">
        <p14:creationId xmlns:p14="http://schemas.microsoft.com/office/powerpoint/2010/main" val="808267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646" y="1267749"/>
            <a:ext cx="8111801" cy="4096187"/>
          </a:xfrm>
        </p:spPr>
        <p:txBody>
          <a:bodyPr>
            <a:normAutofit/>
          </a:bodyPr>
          <a:lstStyle/>
          <a:p>
            <a:r>
              <a:rPr lang="en-US" sz="1500" dirty="0">
                <a:latin typeface="Times New Roman" panose="02020603050405020304" pitchFamily="18" charset="0"/>
                <a:cs typeface="Times New Roman" panose="02020603050405020304" pitchFamily="18" charset="0"/>
              </a:rPr>
              <a:t>For Classification, Support Vector Machine (SVM) classifier	 is used.</a:t>
            </a:r>
          </a:p>
          <a:p>
            <a:r>
              <a:rPr lang="en-US" sz="1500" dirty="0">
                <a:latin typeface="Times New Roman" panose="02020603050405020304" pitchFamily="18" charset="0"/>
                <a:cs typeface="Times New Roman" panose="02020603050405020304" pitchFamily="18" charset="0"/>
              </a:rPr>
              <a:t>Topic transition segments, whose identity has not been recognized, are sentences that indicate the description of the content of a new topic. For example, “Next, the operation principle of the battery charger in the first embodiment will be described”.</a:t>
            </a:r>
          </a:p>
          <a:p>
            <a:r>
              <a:rPr lang="en-US" sz="1500" dirty="0">
                <a:latin typeface="Times New Roman" panose="02020603050405020304" pitchFamily="18" charset="0"/>
                <a:cs typeface="Times New Roman" panose="02020603050405020304" pitchFamily="18" charset="0"/>
              </a:rPr>
              <a:t>The Detection of headlines and topic transition segments facilitates the derivation of a partial table of contents by listing all the headlines and transition segments in the sequence in which they appear in the patent description and linking them to textual part which comes right after it. This table lets the user access any particular segment in the description section quickly and helps in document navigation.</a:t>
            </a:r>
          </a:p>
          <a:p>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1097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20851"/>
            <a:ext cx="7886700" cy="621895"/>
          </a:xfrm>
        </p:spPr>
        <p:txBody>
          <a:bodyPr>
            <a:noAutofit/>
          </a:bodyPr>
          <a:lstStyle/>
          <a:p>
            <a:pPr algn="ctr"/>
            <a:r>
              <a:rPr lang="en-US" sz="3500" dirty="0">
                <a:latin typeface="Times New Roman" panose="02020603050405020304" pitchFamily="18" charset="0"/>
                <a:cs typeface="Times New Roman" panose="02020603050405020304" pitchFamily="18" charset="0"/>
              </a:rPr>
              <a:t>3</a:t>
            </a:r>
            <a:r>
              <a:rPr lang="en-US" sz="3500" baseline="30000" dirty="0">
                <a:latin typeface="Times New Roman" panose="02020603050405020304" pitchFamily="18" charset="0"/>
                <a:cs typeface="Times New Roman" panose="02020603050405020304" pitchFamily="18" charset="0"/>
              </a:rPr>
              <a:t>rd</a:t>
            </a:r>
            <a:r>
              <a:rPr lang="en-US" sz="3500" dirty="0">
                <a:latin typeface="Times New Roman" panose="02020603050405020304" pitchFamily="18" charset="0"/>
                <a:cs typeface="Times New Roman" panose="02020603050405020304" pitchFamily="18" charset="0"/>
              </a:rPr>
              <a:t> Level Segmentation</a:t>
            </a:r>
          </a:p>
        </p:txBody>
      </p:sp>
      <p:sp>
        <p:nvSpPr>
          <p:cNvPr id="3" name="Content Placeholder 2"/>
          <p:cNvSpPr>
            <a:spLocks noGrp="1"/>
          </p:cNvSpPr>
          <p:nvPr>
            <p:ph idx="1"/>
          </p:nvPr>
        </p:nvSpPr>
        <p:spPr>
          <a:xfrm>
            <a:off x="628650" y="1592036"/>
            <a:ext cx="7810889" cy="3736984"/>
          </a:xfrm>
        </p:spPr>
        <p:txBody>
          <a:bodyPr>
            <a:normAutofit/>
          </a:bodyPr>
          <a:lstStyle/>
          <a:p>
            <a:r>
              <a:rPr lang="en-US" sz="1500" dirty="0">
                <a:latin typeface="Times New Roman" panose="02020603050405020304" pitchFamily="18" charset="0"/>
                <a:cs typeface="Times New Roman" panose="02020603050405020304" pitchFamily="18" charset="0"/>
              </a:rPr>
              <a:t>This level addresses the detection of patent chunks that cover other types of regular useful information including advantages of invention, objectives of invention, about the achievement of the objectives.</a:t>
            </a:r>
          </a:p>
          <a:p>
            <a:r>
              <a:rPr lang="en-US" sz="1500" dirty="0">
                <a:latin typeface="Times New Roman" panose="02020603050405020304" pitchFamily="18" charset="0"/>
                <a:cs typeface="Times New Roman" panose="02020603050405020304" pitchFamily="18" charset="0"/>
              </a:rPr>
              <a:t>These segments are recognized partially by regular expressions and partially by SVM classification.</a:t>
            </a:r>
          </a:p>
          <a:p>
            <a:r>
              <a:rPr lang="en-US" sz="1500" dirty="0">
                <a:latin typeface="Times New Roman" panose="02020603050405020304" pitchFamily="18" charset="0"/>
                <a:cs typeface="Times New Roman" panose="02020603050405020304" pitchFamily="18" charset="0"/>
              </a:rPr>
              <a:t>The Average F1-Score is 0.75.</a:t>
            </a:r>
          </a:p>
          <a:p>
            <a:r>
              <a:rPr lang="en-US" sz="1500" dirty="0">
                <a:latin typeface="Times New Roman" panose="02020603050405020304" pitchFamily="18" charset="0"/>
                <a:cs typeface="Times New Roman" panose="02020603050405020304" pitchFamily="18" charset="0"/>
              </a:rPr>
              <a:t>Claim segments are composed of statements (in the logical sense) on an individual element of the invention. They are recognized using a rule-based mechanism.</a:t>
            </a:r>
          </a:p>
        </p:txBody>
      </p:sp>
    </p:spTree>
    <p:extLst>
      <p:ext uri="{BB962C8B-B14F-4D97-AF65-F5344CB8AC3E}">
        <p14:creationId xmlns:p14="http://schemas.microsoft.com/office/powerpoint/2010/main" val="3007890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64868"/>
            <a:ext cx="7886700" cy="621895"/>
          </a:xfrm>
        </p:spPr>
        <p:txBody>
          <a:bodyPr>
            <a:noAutofit/>
          </a:bodyPr>
          <a:lstStyle/>
          <a:p>
            <a:pPr algn="ctr"/>
            <a:r>
              <a:rPr lang="en-US" sz="3500" dirty="0">
                <a:latin typeface="Times New Roman" panose="02020603050405020304" pitchFamily="18" charset="0"/>
                <a:cs typeface="Times New Roman" panose="02020603050405020304" pitchFamily="18" charset="0"/>
              </a:rPr>
              <a:t>Claim – description alignment</a:t>
            </a:r>
          </a:p>
        </p:txBody>
      </p:sp>
      <p:sp>
        <p:nvSpPr>
          <p:cNvPr id="3" name="Content Placeholder 2"/>
          <p:cNvSpPr>
            <a:spLocks noGrp="1"/>
          </p:cNvSpPr>
          <p:nvPr>
            <p:ph idx="1"/>
          </p:nvPr>
        </p:nvSpPr>
        <p:spPr>
          <a:xfrm>
            <a:off x="628650" y="1592036"/>
            <a:ext cx="7810889" cy="3736984"/>
          </a:xfrm>
        </p:spPr>
        <p:txBody>
          <a:bodyPr>
            <a:normAutofit/>
          </a:bodyPr>
          <a:lstStyle/>
          <a:p>
            <a:r>
              <a:rPr lang="en-US" sz="1500" dirty="0">
                <a:latin typeface="Times New Roman" panose="02020603050405020304" pitchFamily="18" charset="0"/>
                <a:cs typeface="Times New Roman" panose="02020603050405020304" pitchFamily="18" charset="0"/>
              </a:rPr>
              <a:t>It is the task of aligning segments in the claims with sentential and sub-sentential description segments that are directly related to each other on that latter provide additional information on the former or rephrase the former. </a:t>
            </a:r>
          </a:p>
          <a:p>
            <a:r>
              <a:rPr lang="en-US" sz="1500" dirty="0">
                <a:latin typeface="Times New Roman" panose="02020603050405020304" pitchFamily="18" charset="0"/>
                <a:cs typeface="Times New Roman" panose="02020603050405020304" pitchFamily="18" charset="0"/>
              </a:rPr>
              <a:t>This is done for the purpose of two things.</a:t>
            </a:r>
          </a:p>
          <a:p>
            <a:pPr marL="0" indent="0">
              <a:buNone/>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To facilitate interactive patent analysis by highlighting parts in the description that explain and </a:t>
            </a:r>
          </a:p>
          <a:p>
            <a:pPr marL="0" indent="0">
              <a:buNone/>
            </a:pPr>
            <a:r>
              <a:rPr lang="en-US" sz="1500" dirty="0">
                <a:latin typeface="Times New Roman" panose="02020603050405020304" pitchFamily="18" charset="0"/>
                <a:cs typeface="Times New Roman" panose="02020603050405020304" pitchFamily="18" charset="0"/>
              </a:rPr>
              <a:t>         or elaborate on a claim or a part of the claim.</a:t>
            </a:r>
          </a:p>
          <a:p>
            <a:pPr marL="0" indent="0">
              <a:buNone/>
            </a:pPr>
            <a:r>
              <a:rPr lang="en-US" sz="1500" dirty="0">
                <a:latin typeface="Times New Roman" panose="02020603050405020304" pitchFamily="18" charset="0"/>
                <a:cs typeface="Times New Roman" panose="02020603050405020304" pitchFamily="18" charset="0"/>
              </a:rPr>
              <a:t>    (ii) To provide features for abstractive summarization.</a:t>
            </a:r>
          </a:p>
          <a:p>
            <a:r>
              <a:rPr lang="en-US" sz="1500" dirty="0">
                <a:latin typeface="Times New Roman" panose="02020603050405020304" pitchFamily="18" charset="0"/>
                <a:cs typeface="Times New Roman" panose="02020603050405020304" pitchFamily="18" charset="0"/>
              </a:rPr>
              <a:t> The Alignment is done at different levels namely, paragraph, sentential and sub-sentential segment.</a:t>
            </a:r>
          </a:p>
          <a:p>
            <a:r>
              <a:rPr lang="en-US" sz="1500" dirty="0">
                <a:latin typeface="Times New Roman" panose="02020603050405020304" pitchFamily="18" charset="0"/>
                <a:cs typeface="Times New Roman" panose="02020603050405020304" pitchFamily="18" charset="0"/>
              </a:rPr>
              <a:t>This is done by representing segments in claims and description section as vectors where each position in a vector corresponds to the </a:t>
            </a:r>
            <a:r>
              <a:rPr lang="en-US" sz="1500" dirty="0" err="1">
                <a:latin typeface="Times New Roman" panose="02020603050405020304" pitchFamily="18" charset="0"/>
                <a:cs typeface="Times New Roman" panose="02020603050405020304" pitchFamily="18" charset="0"/>
              </a:rPr>
              <a:t>tf-idf</a:t>
            </a:r>
            <a:r>
              <a:rPr lang="en-US" sz="1500" dirty="0">
                <a:latin typeface="Times New Roman" panose="02020603050405020304" pitchFamily="18" charset="0"/>
                <a:cs typeface="Times New Roman" panose="02020603050405020304" pitchFamily="18" charset="0"/>
              </a:rPr>
              <a:t> value of a term.</a:t>
            </a:r>
          </a:p>
          <a:p>
            <a:r>
              <a:rPr lang="en-US" sz="1500" dirty="0">
                <a:latin typeface="Times New Roman" panose="02020603050405020304" pitchFamily="18" charset="0"/>
                <a:cs typeface="Times New Roman" panose="02020603050405020304" pitchFamily="18" charset="0"/>
              </a:rPr>
              <a:t>A cosine similarity is computed between each segment in the claims and each segment in the description. If the similarity is greater than user defined threshold, then the segments are considered aligned.</a:t>
            </a:r>
          </a:p>
        </p:txBody>
      </p:sp>
    </p:spTree>
    <p:extLst>
      <p:ext uri="{BB962C8B-B14F-4D97-AF65-F5344CB8AC3E}">
        <p14:creationId xmlns:p14="http://schemas.microsoft.com/office/powerpoint/2010/main" val="2109628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657" y="1396094"/>
            <a:ext cx="7810889" cy="3855876"/>
          </a:xfrm>
        </p:spPr>
        <p:txBody>
          <a:bodyPr>
            <a:normAutofit/>
          </a:bodyPr>
          <a:lstStyle/>
          <a:p>
            <a:r>
              <a:rPr lang="en-US" sz="1500" dirty="0">
                <a:latin typeface="Times New Roman" panose="02020603050405020304" pitchFamily="18" charset="0"/>
                <a:cs typeface="Times New Roman" panose="02020603050405020304" pitchFamily="18" charset="0"/>
              </a:rPr>
              <a:t>The similarity computation is done according to the following process.</a:t>
            </a:r>
          </a:p>
          <a:p>
            <a:pPr marL="0" indent="0">
              <a:buNone/>
            </a:pPr>
            <a:r>
              <a:rPr lang="en-US" sz="1500" dirty="0">
                <a:latin typeface="Times New Roman" panose="02020603050405020304" pitchFamily="18" charset="0"/>
                <a:cs typeface="Times New Roman" panose="02020603050405020304" pitchFamily="18" charset="0"/>
              </a:rPr>
              <a:t>    For each claim segment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C</a:t>
            </a:r>
            <a:r>
              <a:rPr lang="en-US" sz="1500" dirty="0">
                <a:latin typeface="Times New Roman" panose="02020603050405020304" pitchFamily="18" charset="0"/>
                <a:cs typeface="Times New Roman" panose="02020603050405020304" pitchFamily="18" charset="0"/>
              </a:rPr>
              <a:t>,</a:t>
            </a:r>
          </a:p>
          <a:p>
            <a:pPr marL="0" indent="0">
              <a:buNone/>
            </a:pPr>
            <a:r>
              <a:rPr lang="en-US" sz="1500" dirty="0">
                <a:latin typeface="Times New Roman" panose="02020603050405020304" pitchFamily="18" charset="0"/>
                <a:cs typeface="Times New Roman" panose="02020603050405020304" pitchFamily="18" charset="0"/>
              </a:rPr>
              <a:t>    a. compute element similarity between primary element of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C</a:t>
            </a:r>
            <a:r>
              <a:rPr lang="en-US" sz="1500" dirty="0">
                <a:latin typeface="Times New Roman" panose="02020603050405020304" pitchFamily="18" charset="0"/>
                <a:cs typeface="Times New Roman" panose="02020603050405020304" pitchFamily="18" charset="0"/>
              </a:rPr>
              <a:t> and the linguistic structures of all </a:t>
            </a:r>
          </a:p>
          <a:p>
            <a:pPr marL="0" indent="0">
              <a:buNone/>
            </a:pPr>
            <a:r>
              <a:rPr lang="en-US" sz="1500" dirty="0">
                <a:latin typeface="Times New Roman" panose="02020603050405020304" pitchFamily="18" charset="0"/>
                <a:cs typeface="Times New Roman" panose="02020603050405020304" pitchFamily="18" charset="0"/>
              </a:rPr>
              <a:t>        sentential or sub-sentential segments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D</a:t>
            </a:r>
            <a:r>
              <a:rPr lang="en-US" sz="75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of the description that have the same syntactic structure </a:t>
            </a:r>
          </a:p>
          <a:p>
            <a:pPr marL="0" indent="0">
              <a:buNone/>
            </a:pPr>
            <a:r>
              <a:rPr lang="en-US" sz="1500" dirty="0">
                <a:latin typeface="Times New Roman" panose="02020603050405020304" pitchFamily="18" charset="0"/>
                <a:cs typeface="Times New Roman" panose="02020603050405020304" pitchFamily="18" charset="0"/>
              </a:rPr>
              <a:t>        and thus would qualify as element of the invention, according to a given element similarity </a:t>
            </a:r>
          </a:p>
          <a:p>
            <a:pPr marL="0" indent="0">
              <a:buNone/>
            </a:pPr>
            <a:r>
              <a:rPr lang="en-US" sz="1500" dirty="0">
                <a:latin typeface="Times New Roman" panose="02020603050405020304" pitchFamily="18" charset="0"/>
                <a:cs typeface="Times New Roman" panose="02020603050405020304" pitchFamily="18" charset="0"/>
              </a:rPr>
              <a:t>        measure </a:t>
            </a:r>
            <a:r>
              <a:rPr lang="en-US" sz="1500" i="1" dirty="0" err="1">
                <a:latin typeface="Times New Roman" panose="02020603050405020304" pitchFamily="18" charset="0"/>
                <a:cs typeface="Times New Roman" panose="02020603050405020304" pitchFamily="18" charset="0"/>
              </a:rPr>
              <a:t>es</a:t>
            </a:r>
            <a:r>
              <a:rPr lang="en-US" sz="1500" dirty="0">
                <a:latin typeface="Times New Roman" panose="02020603050405020304" pitchFamily="18" charset="0"/>
                <a:cs typeface="Times New Roman" panose="02020603050405020304" pitchFamily="18" charset="0"/>
              </a:rPr>
              <a:t>.</a:t>
            </a:r>
          </a:p>
          <a:p>
            <a:pPr marL="0" indent="0">
              <a:buNone/>
            </a:pPr>
            <a:r>
              <a:rPr lang="en-US" sz="1500" dirty="0">
                <a:latin typeface="Times New Roman" panose="02020603050405020304" pitchFamily="18" charset="0"/>
                <a:cs typeface="Times New Roman" panose="02020603050405020304" pitchFamily="18" charset="0"/>
              </a:rPr>
              <a:t>   b. compute the lexical overlap between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C</a:t>
            </a:r>
            <a:r>
              <a:rPr lang="en-US" sz="1500" dirty="0">
                <a:latin typeface="Times New Roman" panose="02020603050405020304" pitchFamily="18" charset="0"/>
                <a:cs typeface="Times New Roman" panose="02020603050405020304" pitchFamily="18" charset="0"/>
              </a:rPr>
              <a:t> and</a:t>
            </a:r>
            <a:r>
              <a:rPr lang="en-US" sz="1500" i="1" dirty="0">
                <a:latin typeface="Times New Roman" panose="02020603050405020304" pitchFamily="18" charset="0"/>
                <a:cs typeface="Times New Roman" panose="02020603050405020304" pitchFamily="18" charset="0"/>
              </a:rPr>
              <a:t> S</a:t>
            </a:r>
            <a:r>
              <a:rPr lang="en-US" sz="750" i="1" dirty="0">
                <a:latin typeface="Times New Roman" panose="02020603050405020304" pitchFamily="18" charset="0"/>
                <a:cs typeface="Times New Roman" panose="02020603050405020304" pitchFamily="18" charset="0"/>
              </a:rPr>
              <a:t>D</a:t>
            </a:r>
            <a:r>
              <a:rPr lang="en-US" sz="1500" dirty="0">
                <a:latin typeface="Times New Roman" panose="02020603050405020304" pitchFamily="18" charset="0"/>
                <a:cs typeface="Times New Roman" panose="02020603050405020304" pitchFamily="18" charset="0"/>
              </a:rPr>
              <a:t>, according to a given lexical overlap measure </a:t>
            </a:r>
            <a:r>
              <a:rPr lang="en-US" sz="1500" i="1" dirty="0">
                <a:latin typeface="Times New Roman" panose="02020603050405020304" pitchFamily="18" charset="0"/>
                <a:cs typeface="Times New Roman" panose="02020603050405020304" pitchFamily="18" charset="0"/>
              </a:rPr>
              <a:t>ls</a:t>
            </a:r>
            <a:r>
              <a:rPr lang="en-US" sz="1500" dirty="0">
                <a:latin typeface="Times New Roman" panose="02020603050405020304" pitchFamily="18" charset="0"/>
                <a:cs typeface="Times New Roman" panose="02020603050405020304" pitchFamily="18" charset="0"/>
              </a:rPr>
              <a:t>.</a:t>
            </a:r>
          </a:p>
          <a:p>
            <a:pPr marL="0" indent="0">
              <a:buNone/>
            </a:pPr>
            <a:r>
              <a:rPr lang="en-US" sz="1500" dirty="0">
                <a:latin typeface="Times New Roman" panose="02020603050405020304" pitchFamily="18" charset="0"/>
                <a:cs typeface="Times New Roman" panose="02020603050405020304" pitchFamily="18" charset="0"/>
              </a:rPr>
              <a:t>   c. combine the element and lexical similarities between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C</a:t>
            </a:r>
            <a:r>
              <a:rPr lang="en-US" sz="1500" dirty="0">
                <a:latin typeface="Times New Roman" panose="02020603050405020304" pitchFamily="18" charset="0"/>
                <a:cs typeface="Times New Roman" panose="02020603050405020304" pitchFamily="18" charset="0"/>
              </a:rPr>
              <a:t> and</a:t>
            </a:r>
            <a:r>
              <a:rPr lang="en-US" sz="1500" i="1" dirty="0">
                <a:latin typeface="Times New Roman" panose="02020603050405020304" pitchFamily="18" charset="0"/>
                <a:cs typeface="Times New Roman" panose="02020603050405020304" pitchFamily="18" charset="0"/>
              </a:rPr>
              <a:t> S</a:t>
            </a:r>
            <a:r>
              <a:rPr lang="en-US" sz="750" i="1" dirty="0">
                <a:latin typeface="Times New Roman" panose="02020603050405020304" pitchFamily="18" charset="0"/>
                <a:cs typeface="Times New Roman" panose="02020603050405020304" pitchFamily="18" charset="0"/>
              </a:rPr>
              <a:t>D</a:t>
            </a:r>
            <a:r>
              <a:rPr lang="en-US" sz="1500" dirty="0">
                <a:latin typeface="Times New Roman" panose="02020603050405020304" pitchFamily="18" charset="0"/>
                <a:cs typeface="Times New Roman" panose="02020603050405020304" pitchFamily="18" charset="0"/>
              </a:rPr>
              <a:t>.</a:t>
            </a:r>
          </a:p>
          <a:p>
            <a:pPr marL="0" indent="0">
              <a:buNone/>
            </a:pPr>
            <a:r>
              <a:rPr lang="en-US" sz="1500" dirty="0">
                <a:latin typeface="Times New Roman" panose="02020603050405020304" pitchFamily="18" charset="0"/>
                <a:cs typeface="Times New Roman" panose="02020603050405020304" pitchFamily="18" charset="0"/>
              </a:rPr>
              <a:t>   d. Choose the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D</a:t>
            </a:r>
            <a:r>
              <a:rPr lang="en-US" sz="1500" dirty="0">
                <a:latin typeface="Times New Roman" panose="02020603050405020304" pitchFamily="18" charset="0"/>
                <a:cs typeface="Times New Roman" panose="02020603050405020304" pitchFamily="18" charset="0"/>
              </a:rPr>
              <a:t> with the maximal similarity according to Step c as the description segment to be   </a:t>
            </a:r>
          </a:p>
          <a:p>
            <a:pPr marL="0" indent="0">
              <a:buNone/>
            </a:pPr>
            <a:r>
              <a:rPr lang="en-US" sz="1500" dirty="0">
                <a:latin typeface="Times New Roman" panose="02020603050405020304" pitchFamily="18" charset="0"/>
                <a:cs typeface="Times New Roman" panose="02020603050405020304" pitchFamily="18" charset="0"/>
              </a:rPr>
              <a:t>       aligned with </a:t>
            </a:r>
            <a:r>
              <a:rPr lang="en-US" sz="1500" i="1" dirty="0">
                <a:latin typeface="Times New Roman" panose="02020603050405020304" pitchFamily="18" charset="0"/>
                <a:cs typeface="Times New Roman" panose="02020603050405020304" pitchFamily="18" charset="0"/>
              </a:rPr>
              <a:t>S</a:t>
            </a:r>
            <a:r>
              <a:rPr lang="en-US" sz="750" i="1" dirty="0">
                <a:latin typeface="Times New Roman" panose="02020603050405020304" pitchFamily="18" charset="0"/>
                <a:cs typeface="Times New Roman" panose="02020603050405020304" pitchFamily="18" charset="0"/>
              </a:rPr>
              <a:t>C</a:t>
            </a:r>
            <a:r>
              <a:rPr lang="en-US" sz="1500" dirty="0">
                <a:latin typeface="Times New Roman" panose="02020603050405020304" pitchFamily="18" charset="0"/>
                <a:cs typeface="Times New Roman" panose="02020603050405020304" pitchFamily="18" charset="0"/>
              </a:rPr>
              <a:t>.</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endParaRPr lang="en-US" sz="165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6357" y="4359143"/>
            <a:ext cx="3911807" cy="706188"/>
          </a:xfrm>
          <a:prstGeom prst="rect">
            <a:avLst/>
          </a:prstGeom>
        </p:spPr>
      </p:pic>
    </p:spTree>
    <p:extLst>
      <p:ext uri="{BB962C8B-B14F-4D97-AF65-F5344CB8AC3E}">
        <p14:creationId xmlns:p14="http://schemas.microsoft.com/office/powerpoint/2010/main" val="3812923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8650" y="1131094"/>
            <a:ext cx="7886700" cy="994172"/>
          </a:xfrm>
        </p:spPr>
        <p:txBody>
          <a:bodyPr/>
          <a:lstStyle/>
          <a:p>
            <a:pPr algn="ctr"/>
            <a:r>
              <a:rPr lang="en-US" b="1" dirty="0">
                <a:latin typeface="Times New Roman" panose="02020603050405020304" pitchFamily="18" charset="0"/>
                <a:cs typeface="Times New Roman" panose="02020603050405020304" pitchFamily="18" charset="0"/>
              </a:rPr>
              <a:t>Patent summarization</a:t>
            </a:r>
          </a:p>
        </p:txBody>
      </p:sp>
      <p:sp>
        <p:nvSpPr>
          <p:cNvPr id="5" name="Content Placeholder 4"/>
          <p:cNvSpPr>
            <a:spLocks noGrp="1"/>
          </p:cNvSpPr>
          <p:nvPr>
            <p:ph idx="1"/>
          </p:nvPr>
        </p:nvSpPr>
        <p:spPr>
          <a:xfrm>
            <a:off x="628650" y="2017835"/>
            <a:ext cx="7886700" cy="3472138"/>
          </a:xfrm>
        </p:spPr>
        <p:txBody>
          <a:bodyPr>
            <a:normAutofit/>
          </a:bodyPr>
          <a:lstStyle/>
          <a:p>
            <a:r>
              <a:rPr lang="en-US" sz="1500" dirty="0">
                <a:latin typeface="Times New Roman" panose="02020603050405020304" pitchFamily="18" charset="0"/>
                <a:cs typeface="Times New Roman" panose="02020603050405020304" pitchFamily="18" charset="0"/>
              </a:rPr>
              <a:t>TOPAS combines two know techniques for summarization. </a:t>
            </a:r>
          </a:p>
          <a:p>
            <a:pPr>
              <a:buFont typeface="+mj-lt"/>
              <a:buAutoNum type="arabicPeriod"/>
            </a:pPr>
            <a:r>
              <a:rPr lang="en-US" sz="1500" dirty="0">
                <a:latin typeface="Times New Roman" panose="02020603050405020304" pitchFamily="18" charset="0"/>
                <a:cs typeface="Times New Roman" panose="02020603050405020304" pitchFamily="18" charset="0"/>
              </a:rPr>
              <a:t>Extractive summarization</a:t>
            </a:r>
          </a:p>
          <a:p>
            <a:pPr>
              <a:buFont typeface="+mj-lt"/>
              <a:buAutoNum type="arabicPeriod"/>
            </a:pPr>
            <a:r>
              <a:rPr lang="en-US" sz="1500" dirty="0">
                <a:latin typeface="Times New Roman" panose="02020603050405020304" pitchFamily="18" charset="0"/>
                <a:cs typeface="Times New Roman" panose="02020603050405020304" pitchFamily="18" charset="0"/>
              </a:rPr>
              <a:t>Abstractive summarization</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r>
              <a:rPr lang="en-US" sz="1500" dirty="0">
                <a:latin typeface="Times New Roman" panose="02020603050405020304" pitchFamily="18" charset="0"/>
                <a:cs typeface="Times New Roman" panose="02020603050405020304" pitchFamily="18" charset="0"/>
              </a:rPr>
              <a:t>Extractive summarization:</a:t>
            </a:r>
          </a:p>
          <a:p>
            <a:pPr>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 Surface oriented and applies relevance metrics based on distribution.</a:t>
            </a:r>
          </a:p>
          <a:p>
            <a:pPr>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Selects entire sentence for summarization.</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r>
              <a:rPr lang="en-US" sz="1500" dirty="0">
                <a:latin typeface="Times New Roman" panose="02020603050405020304" pitchFamily="18" charset="0"/>
                <a:cs typeface="Times New Roman" panose="02020603050405020304" pitchFamily="18" charset="0"/>
              </a:rPr>
              <a:t>Abstractive summarization:</a:t>
            </a:r>
          </a:p>
          <a:p>
            <a:pPr>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Selects summary relevant content from the sentence and assembles them using linguistic aggregation into summary .</a:t>
            </a:r>
          </a:p>
          <a:p>
            <a:pPr>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Requires robust semantic analysis.</a:t>
            </a:r>
          </a:p>
          <a:p>
            <a:pPr>
              <a:buFont typeface="+mj-lt"/>
              <a:buAutoNum type="arabicPeriod"/>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854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Summarization(</a:t>
            </a:r>
            <a:r>
              <a:rPr lang="en-US" dirty="0" err="1">
                <a:latin typeface="Times New Roman" panose="02020603050405020304" pitchFamily="18" charset="0"/>
                <a:cs typeface="Times New Roman" panose="02020603050405020304" pitchFamily="18" charset="0"/>
              </a:rPr>
              <a:t>contd</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lstStyle/>
          <a:p>
            <a:r>
              <a:rPr lang="en-US" sz="1500" dirty="0">
                <a:latin typeface="Times New Roman" panose="02020603050405020304" pitchFamily="18" charset="0"/>
                <a:cs typeface="Times New Roman" panose="02020603050405020304" pitchFamily="18" charset="0"/>
              </a:rPr>
              <a:t>TOPAS assigns weights to selected segments of the patent.</a:t>
            </a:r>
          </a:p>
          <a:p>
            <a:r>
              <a:rPr lang="en-US" sz="1500" dirty="0">
                <a:latin typeface="Times New Roman" panose="02020603050405020304" pitchFamily="18" charset="0"/>
                <a:cs typeface="Times New Roman" panose="02020603050405020304" pitchFamily="18" charset="0"/>
              </a:rPr>
              <a:t>Training on human annotated data is done for assigning weights.</a:t>
            </a:r>
          </a:p>
          <a:p>
            <a:r>
              <a:rPr lang="en-US" sz="1500" dirty="0">
                <a:latin typeface="Times New Roman" panose="02020603050405020304" pitchFamily="18" charset="0"/>
                <a:cs typeface="Times New Roman" panose="02020603050405020304" pitchFamily="18" charset="0"/>
              </a:rPr>
              <a:t>Score for the qualitative evaluation done by TOPAS Industrial consortium is given as 3.38(average) and for linguistic quality it is 3.8.</a:t>
            </a:r>
          </a:p>
          <a:p>
            <a:r>
              <a:rPr lang="en-US" sz="1500" dirty="0">
                <a:latin typeface="Times New Roman" panose="02020603050405020304" pitchFamily="18" charset="0"/>
                <a:cs typeface="Times New Roman" panose="02020603050405020304" pitchFamily="18" charset="0"/>
              </a:rPr>
              <a:t>Quality of concrete summarization depends on quality of outputs of all previous modules.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a:p>
            <a:r>
              <a:rPr lang="en-US" sz="1500" dirty="0">
                <a:latin typeface="Times New Roman" panose="02020603050405020304" pitchFamily="18" charset="0"/>
                <a:cs typeface="Times New Roman" panose="02020603050405020304" pitchFamily="18" charset="0"/>
              </a:rPr>
              <a:t>Types of features that are considered for giving weights and selecting segments are</a:t>
            </a:r>
          </a:p>
          <a:p>
            <a:pPr>
              <a:buFont typeface="+mj-lt"/>
              <a:buAutoNum type="arabicPeriod"/>
            </a:pPr>
            <a:r>
              <a:rPr lang="en-US" sz="1500" dirty="0">
                <a:latin typeface="Times New Roman" panose="02020603050405020304" pitchFamily="18" charset="0"/>
                <a:cs typeface="Times New Roman" panose="02020603050405020304" pitchFamily="18" charset="0"/>
              </a:rPr>
              <a:t> Mention-based features.</a:t>
            </a:r>
          </a:p>
          <a:p>
            <a:pPr>
              <a:buFont typeface="+mj-lt"/>
              <a:buAutoNum type="arabicPeriod"/>
            </a:pPr>
            <a:r>
              <a:rPr lang="en-US" sz="1500" dirty="0">
                <a:latin typeface="Times New Roman" panose="02020603050405020304" pitchFamily="18" charset="0"/>
                <a:cs typeface="Times New Roman" panose="02020603050405020304" pitchFamily="18" charset="0"/>
              </a:rPr>
              <a:t>Segment relevance features</a:t>
            </a:r>
          </a:p>
          <a:p>
            <a:pPr>
              <a:buFont typeface="+mj-lt"/>
              <a:buAutoNum type="arabicPeriod"/>
            </a:pPr>
            <a:r>
              <a:rPr lang="en-US" sz="1500" dirty="0">
                <a:latin typeface="Times New Roman" panose="02020603050405020304" pitchFamily="18" charset="0"/>
                <a:cs typeface="Times New Roman" panose="02020603050405020304" pitchFamily="18" charset="0"/>
              </a:rPr>
              <a:t>Classical extractive summarization features.</a:t>
            </a:r>
          </a:p>
          <a:p>
            <a:endParaRPr lang="en-US" dirty="0"/>
          </a:p>
        </p:txBody>
      </p:sp>
    </p:spTree>
    <p:extLst>
      <p:ext uri="{BB962C8B-B14F-4D97-AF65-F5344CB8AC3E}">
        <p14:creationId xmlns:p14="http://schemas.microsoft.com/office/powerpoint/2010/main" val="2282960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Mention-based features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385763" indent="-385763">
                  <a:buFont typeface="+mj-lt"/>
                  <a:buAutoNum type="alphaLcParenR"/>
                </a:pPr>
                <a:r>
                  <a:rPr lang="en-US" sz="1500" b="1" dirty="0">
                    <a:latin typeface="Times New Roman" panose="02020603050405020304" pitchFamily="18" charset="0"/>
                    <a:cs typeface="Times New Roman" panose="02020603050405020304" pitchFamily="18" charset="0"/>
                  </a:rPr>
                  <a:t>Frequency-based mention relevance </a:t>
                </a:r>
                <a:r>
                  <a:rPr lang="en-US" sz="1500" dirty="0">
                    <a:latin typeface="Times New Roman" panose="02020603050405020304" pitchFamily="18" charset="0"/>
                    <a:cs typeface="Times New Roman" panose="02020603050405020304" pitchFamily="18" charset="0"/>
                  </a:rPr>
                  <a:t>: Measured as relative frequency of each mention of a component in a section.</a:t>
                </a: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                  F</a:t>
                </a:r>
                <a:r>
                  <a:rPr lang="en-US" sz="1500" dirty="0">
                    <a:latin typeface="Times New Roman" panose="02020603050405020304" pitchFamily="18" charset="0"/>
                    <a:cs typeface="Times New Roman" panose="02020603050405020304" pitchFamily="18" charset="0"/>
                  </a:rPr>
                  <a:t> = Number of occurrence of mention </a:t>
                </a:r>
                <a:r>
                  <a:rPr lang="en-US" sz="18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Total number of mentions in a segment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b)     Coreference-based mention relevance </a:t>
                </a:r>
                <a:r>
                  <a:rPr lang="en-US" sz="1500" dirty="0">
                    <a:latin typeface="Times New Roman" panose="02020603050405020304" pitchFamily="18" charset="0"/>
                    <a:cs typeface="Times New Roman" panose="02020603050405020304" pitchFamily="18" charset="0"/>
                  </a:rPr>
                  <a:t>: components can be mentioned in several forms</a:t>
                </a: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E.g. pronouns – Venkatesh, He.</a:t>
                </a:r>
              </a:p>
              <a:p>
                <a:pPr marL="0" indent="0">
                  <a:buNone/>
                </a:pPr>
                <a:r>
                  <a:rPr lang="en-US" sz="1500" dirty="0">
                    <a:latin typeface="Times New Roman" panose="02020603050405020304" pitchFamily="18" charset="0"/>
                    <a:cs typeface="Times New Roman" panose="02020603050405020304" pitchFamily="18" charset="0"/>
                  </a:rPr>
                  <a:t>             These mentions forms coreference chain whose length and position of component can be  	used to provide  relevance.</a:t>
                </a:r>
              </a:p>
              <a:p>
                <a:pPr marL="0" indent="0">
                  <a:buNone/>
                </a:pPr>
                <a:r>
                  <a:rPr lang="en-US" sz="1500" dirty="0">
                    <a:latin typeface="Times New Roman" panose="02020603050405020304" pitchFamily="18" charset="0"/>
                    <a:cs typeface="Times New Roman" panose="02020603050405020304" pitchFamily="18" charset="0"/>
                  </a:rPr>
                  <a:t>                            corefRel = Number of mentions in chain / Number of mentions in patent</a:t>
                </a:r>
              </a:p>
              <a:p>
                <a:pPr marL="0" indent="0">
                  <a:buNone/>
                </a:pPr>
                <a:r>
                  <a:rPr lang="en-US" sz="1500" dirty="0">
                    <a:latin typeface="Times New Roman" panose="02020603050405020304" pitchFamily="18" charset="0"/>
                    <a:cs typeface="Times New Roman" panose="02020603050405020304" pitchFamily="18" charset="0"/>
                  </a:rPr>
                  <a:t>                            corefRelPos = 1 /</a:t>
                </a:r>
                <a14:m>
                  <m:oMath xmlns:m="http://schemas.openxmlformats.org/officeDocument/2006/math">
                    <m:r>
                      <a:rPr lang="en-US" sz="1500" i="1">
                        <a:latin typeface="Cambria Math" panose="02040503050406030204" pitchFamily="18" charset="0"/>
                        <a:cs typeface="Times New Roman" panose="02020603050405020304" pitchFamily="18" charset="0"/>
                      </a:rPr>
                      <m:t>√</m:t>
                    </m:r>
                  </m:oMath>
                </a14:m>
                <a:r>
                  <a:rPr lang="en-US" sz="1500" dirty="0">
                    <a:latin typeface="Times New Roman" panose="02020603050405020304" pitchFamily="18" charset="0"/>
                    <a:cs typeface="Times New Roman" panose="02020603050405020304" pitchFamily="18" charset="0"/>
                  </a:rPr>
                  <a:t>position in chain</a:t>
                </a:r>
              </a:p>
              <a:p>
                <a:pPr marL="0" indent="0">
                  <a:buNone/>
                </a:pPr>
                <a:endParaRPr lang="en-US" sz="15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US">
                    <a:noFill/>
                  </a:rPr>
                  <a:t> </a:t>
                </a:r>
              </a:p>
            </p:txBody>
          </p:sp>
        </mc:Fallback>
      </mc:AlternateContent>
    </p:spTree>
    <p:extLst>
      <p:ext uri="{BB962C8B-B14F-4D97-AF65-F5344CB8AC3E}">
        <p14:creationId xmlns:p14="http://schemas.microsoft.com/office/powerpoint/2010/main" val="2520489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Mention-based features(</a:t>
            </a:r>
            <a:r>
              <a:rPr lang="en-US" dirty="0" err="1">
                <a:latin typeface="Times New Roman" panose="02020603050405020304" pitchFamily="18" charset="0"/>
                <a:cs typeface="Times New Roman" panose="02020603050405020304" pitchFamily="18" charset="0"/>
              </a:rPr>
              <a:t>contd</a:t>
            </a:r>
            <a:r>
              <a:rPr lang="en-US" dirty="0">
                <a:latin typeface="Times New Roman" panose="02020603050405020304" pitchFamily="18" charset="0"/>
                <a:cs typeface="Times New Roman" panose="02020603050405020304" pitchFamily="18" charset="0"/>
              </a:rPr>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AutoNum type="alphaLcParenR" startAt="3"/>
                </a:pPr>
                <a:r>
                  <a:rPr lang="en-US" sz="1500" b="1" dirty="0">
                    <a:latin typeface="Times New Roman" panose="02020603050405020304" pitchFamily="18" charset="0"/>
                    <a:cs typeface="Times New Roman" panose="02020603050405020304" pitchFamily="18" charset="0"/>
                  </a:rPr>
                  <a:t>Lexical chain-based mention relevance: </a:t>
                </a:r>
                <a:r>
                  <a:rPr lang="en-US" sz="1500" dirty="0">
                    <a:latin typeface="Times New Roman" panose="02020603050405020304" pitchFamily="18" charset="0"/>
                    <a:cs typeface="Times New Roman" panose="02020603050405020304" pitchFamily="18" charset="0"/>
                  </a:rPr>
                  <a:t>Mentions of semantically related components form  		lexical chains.</a:t>
                </a:r>
              </a:p>
              <a:p>
                <a:pPr marL="0" indent="0">
                  <a:buNone/>
                </a:pP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weights are assigned based on type of relation they have.</a:t>
                </a:r>
              </a:p>
              <a:p>
                <a:pPr>
                  <a:buAutoNum type="alphaLcParenR" startAt="4"/>
                </a:pPr>
                <a:r>
                  <a:rPr lang="en-US" sz="1500" b="1" dirty="0">
                    <a:latin typeface="Times New Roman" panose="02020603050405020304" pitchFamily="18" charset="0"/>
                    <a:cs typeface="Times New Roman" panose="02020603050405020304" pitchFamily="18" charset="0"/>
                  </a:rPr>
                  <a:t>Claim structured-based mention relevance: </a:t>
                </a:r>
                <a:r>
                  <a:rPr lang="en-US" sz="1500" dirty="0">
                    <a:latin typeface="Times New Roman" panose="02020603050405020304" pitchFamily="18" charset="0"/>
                    <a:cs typeface="Times New Roman" panose="02020603050405020304" pitchFamily="18" charset="0"/>
                  </a:rPr>
                  <a:t>mentions in the deeper levels of the claim         			structure have less relevance to patent than mentions in the upper level.</a:t>
                </a:r>
              </a:p>
              <a:p>
                <a:pPr marL="0" indent="0">
                  <a:buNone/>
                </a:pP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feature value </a:t>
                </a:r>
                <a:r>
                  <a:rPr lang="en-US" sz="1500" i="1" dirty="0">
                    <a:latin typeface="Times New Roman" panose="02020603050405020304" pitchFamily="18" charset="0"/>
                    <a:cs typeface="Times New Roman" panose="02020603050405020304" pitchFamily="18" charset="0"/>
                  </a:rPr>
                  <a:t>f = 1 ∕ L </a:t>
                </a:r>
                <a:r>
                  <a:rPr lang="en-US" sz="1500" dirty="0">
                    <a:latin typeface="Times New Roman" panose="02020603050405020304" pitchFamily="18" charset="0"/>
                    <a:cs typeface="Times New Roman" panose="02020603050405020304" pitchFamily="18" charset="0"/>
                  </a:rPr>
                  <a:t>, L is level of claim structure</a:t>
                </a:r>
              </a:p>
              <a:p>
                <a:pPr marL="0" indent="0">
                  <a:buNone/>
                </a:pPr>
                <a:endParaRPr lang="en-US" sz="1500" dirty="0">
                  <a:latin typeface="Times New Roman" panose="02020603050405020304" pitchFamily="18" charset="0"/>
                  <a:cs typeface="Times New Roman" panose="02020603050405020304" pitchFamily="18" charset="0"/>
                </a:endParaRPr>
              </a:p>
              <a:p>
                <a:pPr marL="0" indent="0">
                  <a:buNone/>
                </a:pPr>
                <a:r>
                  <a:rPr lang="en-US" sz="1500" dirty="0">
                    <a:latin typeface="Times New Roman" panose="02020603050405020304" pitchFamily="18" charset="0"/>
                    <a:cs typeface="Times New Roman" panose="02020603050405020304" pitchFamily="18" charset="0"/>
                  </a:rPr>
                  <a:t>		Aggregated </a:t>
                </a:r>
                <a14:m>
                  <m:oMath xmlns:m="http://schemas.openxmlformats.org/officeDocument/2006/math">
                    <m:r>
                      <a:rPr lang="en-US" sz="1500" i="1">
                        <a:latin typeface="Cambria Math" panose="02040503050406030204" pitchFamily="18" charset="0"/>
                        <a:cs typeface="Times New Roman" panose="02020603050405020304" pitchFamily="18" charset="0"/>
                      </a:rPr>
                      <m:t>𝐹</m:t>
                    </m:r>
                    <m:r>
                      <a:rPr lang="en-US" sz="1500" i="1">
                        <a:latin typeface="Cambria Math" panose="02040503050406030204" pitchFamily="18" charset="0"/>
                        <a:cs typeface="Times New Roman" panose="02020603050405020304" pitchFamily="18" charset="0"/>
                      </a:rPr>
                      <m:t>= </m:t>
                    </m:r>
                    <m:f>
                      <m:fPr>
                        <m:ctrlPr>
                          <a:rPr lang="en-US" sz="1500" i="1">
                            <a:latin typeface="Cambria Math" panose="02040503050406030204" pitchFamily="18" charset="0"/>
                            <a:cs typeface="Times New Roman" panose="02020603050405020304" pitchFamily="18" charset="0"/>
                          </a:rPr>
                        </m:ctrlPr>
                      </m:fPr>
                      <m:num>
                        <m:nary>
                          <m:naryPr>
                            <m:chr m:val="∑"/>
                            <m:limLoc m:val="subSup"/>
                            <m:ctrlPr>
                              <a:rPr lang="en-US" sz="1500" i="1">
                                <a:latin typeface="Cambria Math" panose="02040503050406030204" pitchFamily="18" charset="0"/>
                                <a:cs typeface="Times New Roman" panose="02020603050405020304" pitchFamily="18" charset="0"/>
                              </a:rPr>
                            </m:ctrlPr>
                          </m:naryPr>
                          <m:sub>
                            <m:r>
                              <m:rPr>
                                <m:brk m:alnAt="25"/>
                              </m:rPr>
                              <a:rPr lang="en-US" sz="1500" i="1">
                                <a:latin typeface="Cambria Math" panose="02040503050406030204" pitchFamily="18" charset="0"/>
                                <a:cs typeface="Times New Roman" panose="02020603050405020304" pitchFamily="18" charset="0"/>
                              </a:rPr>
                              <m:t>𝑖</m:t>
                            </m:r>
                            <m:r>
                              <a:rPr lang="en-US" sz="1500" i="1">
                                <a:latin typeface="Cambria Math" panose="02040503050406030204" pitchFamily="18" charset="0"/>
                                <a:cs typeface="Times New Roman" panose="02020603050405020304" pitchFamily="18" charset="0"/>
                              </a:rPr>
                              <m:t>=0</m:t>
                            </m:r>
                          </m:sub>
                          <m:sup>
                            <m:r>
                              <a:rPr lang="en-US" sz="1500" i="1">
                                <a:latin typeface="Cambria Math" panose="02040503050406030204" pitchFamily="18" charset="0"/>
                                <a:cs typeface="Times New Roman" panose="02020603050405020304" pitchFamily="18" charset="0"/>
                              </a:rPr>
                              <m:t>𝑛</m:t>
                            </m:r>
                          </m:sup>
                          <m:e>
                            <m:r>
                              <a:rPr lang="en-US" sz="1500" i="1">
                                <a:latin typeface="Cambria Math" panose="02040503050406030204" pitchFamily="18" charset="0"/>
                                <a:cs typeface="Times New Roman" panose="02020603050405020304" pitchFamily="18" charset="0"/>
                              </a:rPr>
                              <m:t>𝑓</m:t>
                            </m:r>
                            <m:r>
                              <a:rPr lang="en-US" sz="1500" i="1" baseline="-25000">
                                <a:latin typeface="Cambria Math" panose="02040503050406030204" pitchFamily="18" charset="0"/>
                                <a:cs typeface="Times New Roman" panose="02020603050405020304" pitchFamily="18" charset="0"/>
                              </a:rPr>
                              <m:t>𝑖</m:t>
                            </m:r>
                          </m:e>
                        </m:nary>
                      </m:num>
                      <m:den>
                        <m:rad>
                          <m:radPr>
                            <m:ctrlPr>
                              <a:rPr lang="en-US" sz="1500" i="1">
                                <a:latin typeface="Cambria Math" panose="02040503050406030204" pitchFamily="18" charset="0"/>
                                <a:cs typeface="Times New Roman" panose="02020603050405020304" pitchFamily="18" charset="0"/>
                              </a:rPr>
                            </m:ctrlPr>
                          </m:radPr>
                          <m:deg>
                            <m:r>
                              <m:rPr>
                                <m:brk m:alnAt="7"/>
                              </m:rPr>
                              <a:rPr lang="en-US" sz="1500" i="1">
                                <a:latin typeface="Cambria Math" panose="02040503050406030204" pitchFamily="18" charset="0"/>
                                <a:cs typeface="Times New Roman" panose="02020603050405020304" pitchFamily="18" charset="0"/>
                              </a:rPr>
                              <m:t>𝑘</m:t>
                            </m:r>
                          </m:deg>
                          <m:e>
                            <m:r>
                              <a:rPr lang="en-US" sz="1500" i="1">
                                <a:latin typeface="Cambria Math" panose="02040503050406030204" pitchFamily="18" charset="0"/>
                                <a:cs typeface="Times New Roman" panose="02020603050405020304" pitchFamily="18" charset="0"/>
                              </a:rPr>
                              <m:t>𝑛</m:t>
                            </m:r>
                          </m:e>
                        </m:rad>
                      </m:den>
                    </m:f>
                  </m:oMath>
                </a14:m>
                <a:endParaRPr lang="en-US" sz="1500" dirty="0">
                  <a:latin typeface="Times New Roman" panose="02020603050405020304" pitchFamily="18" charset="0"/>
                  <a:cs typeface="Times New Roman" panose="02020603050405020304" pitchFamily="18" charset="0"/>
                </a:endParaRPr>
              </a:p>
              <a:p>
                <a:pPr marL="0" indent="0">
                  <a:buNone/>
                </a:pPr>
                <a:r>
                  <a:rPr lang="en-US" sz="1500" dirty="0">
                    <a:latin typeface="Times New Roman" panose="02020603050405020304" pitchFamily="18" charset="0"/>
                    <a:cs typeface="Times New Roman" panose="02020603050405020304" pitchFamily="18" charset="0"/>
                  </a:rPr>
                  <a:t>		where n is the number of mentions, Fi is the feature value of mention </a:t>
                </a:r>
                <a:r>
                  <a:rPr lang="en-US" sz="1500" dirty="0" err="1">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and 			K is a smooth factor (set to 2 in the current setup of TOPAS)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US">
                    <a:noFill/>
                  </a:rPr>
                  <a:t> </a:t>
                </a:r>
              </a:p>
            </p:txBody>
          </p:sp>
        </mc:Fallback>
      </mc:AlternateContent>
    </p:spTree>
    <p:extLst>
      <p:ext uri="{BB962C8B-B14F-4D97-AF65-F5344CB8AC3E}">
        <p14:creationId xmlns:p14="http://schemas.microsoft.com/office/powerpoint/2010/main" val="707992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Segment Relevant features</a:t>
            </a:r>
          </a:p>
        </p:txBody>
      </p:sp>
      <p:sp>
        <p:nvSpPr>
          <p:cNvPr id="3" name="Content Placeholder 2"/>
          <p:cNvSpPr>
            <a:spLocks noGrp="1"/>
          </p:cNvSpPr>
          <p:nvPr>
            <p:ph idx="1"/>
          </p:nvPr>
        </p:nvSpPr>
        <p:spPr/>
        <p:txBody>
          <a:bodyPr>
            <a:normAutofit/>
          </a:bodyPr>
          <a:lstStyle/>
          <a:p>
            <a:pPr marL="0" indent="0">
              <a:buNone/>
            </a:pPr>
            <a:r>
              <a:rPr lang="en-US" sz="1500" b="1" dirty="0">
                <a:latin typeface="Times New Roman" panose="02020603050405020304" pitchFamily="18" charset="0"/>
                <a:cs typeface="Times New Roman" panose="02020603050405020304" pitchFamily="18" charset="0"/>
              </a:rPr>
              <a:t>Claim alignment similarity features : </a:t>
            </a:r>
            <a:r>
              <a:rPr lang="en-US" sz="1500" dirty="0">
                <a:latin typeface="Times New Roman" panose="02020603050405020304" pitchFamily="18" charset="0"/>
                <a:cs typeface="Times New Roman" panose="02020603050405020304" pitchFamily="18" charset="0"/>
              </a:rPr>
              <a:t>captures the strength of the association of a segment with  claim</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Length feature: </a:t>
            </a:r>
            <a:r>
              <a:rPr lang="en-US" sz="1500" dirty="0">
                <a:latin typeface="Times New Roman" panose="02020603050405020304" pitchFamily="18" charset="0"/>
                <a:cs typeface="Times New Roman" panose="02020603050405020304" pitchFamily="18" charset="0"/>
              </a:rPr>
              <a:t>Prevents long </a:t>
            </a: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from getting heavy weights.</a:t>
            </a:r>
          </a:p>
          <a:p>
            <a:pPr marL="0" indent="0">
              <a:buNone/>
            </a:pP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feature is inversely proportional to number of mentions.</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Semantic features: </a:t>
            </a:r>
            <a:r>
              <a:rPr lang="en-US" sz="1500" dirty="0">
                <a:latin typeface="Times New Roman" panose="02020603050405020304" pitchFamily="18" charset="0"/>
                <a:cs typeface="Times New Roman" panose="02020603050405020304" pitchFamily="18" charset="0"/>
              </a:rPr>
              <a:t>Feature values are based on type of segment.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Invention feature: </a:t>
            </a:r>
            <a:r>
              <a:rPr lang="en-US" sz="1500" dirty="0">
                <a:latin typeface="Times New Roman" panose="02020603050405020304" pitchFamily="18" charset="0"/>
                <a:cs typeface="Times New Roman" panose="02020603050405020304" pitchFamily="18" charset="0"/>
              </a:rPr>
              <a:t>if segment is principle of invention then feature is 1,otherwise 0.</a:t>
            </a:r>
            <a:endParaRPr lang="en-US" sz="1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858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Summarization Metric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2237020"/>
                <a:ext cx="7886700" cy="3263504"/>
              </a:xfrm>
            </p:spPr>
            <p:txBody>
              <a:bodyPr/>
              <a:lstStyle/>
              <a:p>
                <a:r>
                  <a:rPr lang="en-US" sz="1500" dirty="0">
                    <a:latin typeface="Times New Roman" panose="02020603050405020304" pitchFamily="18" charset="0"/>
                    <a:cs typeface="Times New Roman" panose="02020603050405020304" pitchFamily="18" charset="0"/>
                  </a:rPr>
                  <a:t>Assigned to each segment of the patent.</a:t>
                </a:r>
              </a:p>
              <a:p>
                <a:pPr marL="0" indent="0">
                  <a:buNone/>
                </a:pPr>
                <a:r>
                  <a:rPr lang="en-US" sz="1500" dirty="0">
                    <a:latin typeface="Times New Roman" panose="02020603050405020304" pitchFamily="18" charset="0"/>
                    <a:cs typeface="Times New Roman" panose="02020603050405020304" pitchFamily="18" charset="0"/>
                  </a:rPr>
                  <a:t>    Score(</a:t>
                </a:r>
                <a:r>
                  <a:rPr lang="en-US" sz="1500" dirty="0" err="1">
                    <a:latin typeface="Times New Roman" panose="02020603050405020304" pitchFamily="18" charset="0"/>
                    <a:cs typeface="Times New Roman" panose="02020603050405020304" pitchFamily="18" charset="0"/>
                  </a:rPr>
                  <a:t>segm</a:t>
                </a:r>
                <a:r>
                  <a:rPr lang="en-US" sz="1500" dirty="0">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sz="1800" i="1">
                            <a:latin typeface="Cambria Math" panose="02040503050406030204" pitchFamily="18" charset="0"/>
                            <a:cs typeface="Times New Roman" panose="02020603050405020304" pitchFamily="18" charset="0"/>
                          </a:rPr>
                        </m:ctrlPr>
                      </m:naryPr>
                      <m:sub>
                        <m:r>
                          <m:rPr>
                            <m:brk m:alnAt="23"/>
                          </m:rPr>
                          <a:rPr lang="en-US" sz="1800" i="1">
                            <a:latin typeface="Cambria Math" panose="02040503050406030204" pitchFamily="18" charset="0"/>
                            <a:cs typeface="Times New Roman" panose="02020603050405020304" pitchFamily="18" charset="0"/>
                          </a:rPr>
                          <m:t>𝑖</m:t>
                        </m:r>
                        <m:r>
                          <a:rPr lang="en-US" sz="1800" i="1">
                            <a:latin typeface="Cambria Math" panose="02040503050406030204" pitchFamily="18" charset="0"/>
                            <a:cs typeface="Times New Roman" panose="02020603050405020304" pitchFamily="18" charset="0"/>
                          </a:rPr>
                          <m:t>=1</m:t>
                        </m:r>
                      </m:sub>
                      <m:sup>
                        <m:r>
                          <a:rPr lang="en-US" sz="1800" i="1">
                            <a:latin typeface="Cambria Math" panose="02040503050406030204" pitchFamily="18" charset="0"/>
                            <a:cs typeface="Times New Roman" panose="02020603050405020304" pitchFamily="18" charset="0"/>
                          </a:rPr>
                          <m:t>𝑛</m:t>
                        </m:r>
                      </m:sup>
                      <m:e>
                        <m:r>
                          <a:rPr lang="en-US" sz="1800" i="1">
                            <a:latin typeface="Cambria Math" panose="02040503050406030204" pitchFamily="18" charset="0"/>
                            <a:cs typeface="Times New Roman" panose="02020603050405020304" pitchFamily="18" charset="0"/>
                          </a:rPr>
                          <m:t>𝑤</m:t>
                        </m:r>
                        <m:r>
                          <a:rPr lang="en-US" sz="1800" i="1" baseline="-25000">
                            <a:latin typeface="Cambria Math" panose="02040503050406030204" pitchFamily="18" charset="0"/>
                            <a:cs typeface="Times New Roman" panose="02020603050405020304" pitchFamily="18" charset="0"/>
                          </a:rPr>
                          <m:t>𝑖</m:t>
                        </m:r>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𝑓𝑖</m:t>
                        </m:r>
                      </m:e>
                    </m:nary>
                  </m:oMath>
                </a14:m>
                <a:endParaRPr lang="en-US" sz="1800" dirty="0">
                  <a:latin typeface="Times New Roman" panose="02020603050405020304" pitchFamily="18" charset="0"/>
                  <a:cs typeface="Times New Roman" panose="02020603050405020304" pitchFamily="18" charset="0"/>
                </a:endParaRPr>
              </a:p>
              <a:p>
                <a:pPr marL="0" indent="0">
                  <a:buNone/>
                </a:pPr>
                <a:r>
                  <a:rPr lang="en-US" dirty="0"/>
                  <a:t> </a:t>
                </a:r>
                <a:r>
                  <a:rPr lang="en-US" sz="1500" dirty="0">
                    <a:latin typeface="Times New Roman" panose="02020603050405020304" pitchFamily="18" charset="0"/>
                    <a:cs typeface="Times New Roman" panose="02020603050405020304" pitchFamily="18" charset="0"/>
                  </a:rPr>
                  <a:t>f</a:t>
                </a:r>
                <a:r>
                  <a:rPr lang="en-US" sz="1500" baseline="-25000" dirty="0">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as the value of its feature I and </a:t>
                </a:r>
                <a:r>
                  <a:rPr lang="en-US" sz="1500" dirty="0" err="1">
                    <a:latin typeface="Times New Roman" panose="02020603050405020304" pitchFamily="18" charset="0"/>
                    <a:cs typeface="Times New Roman" panose="02020603050405020304" pitchFamily="18" charset="0"/>
                  </a:rPr>
                  <a:t>w</a:t>
                </a:r>
                <a:r>
                  <a:rPr lang="en-US" sz="1500" baseline="-25000" dirty="0" err="1">
                    <a:latin typeface="Times New Roman" panose="02020603050405020304" pitchFamily="18" charset="0"/>
                    <a:cs typeface="Times New Roman" panose="02020603050405020304" pitchFamily="18" charset="0"/>
                  </a:rPr>
                  <a:t>i</a:t>
                </a:r>
                <a:r>
                  <a:rPr lang="en-US" sz="1500" dirty="0">
                    <a:latin typeface="Times New Roman" panose="02020603050405020304" pitchFamily="18" charset="0"/>
                    <a:cs typeface="Times New Roman" panose="02020603050405020304" pitchFamily="18" charset="0"/>
                  </a:rPr>
                  <a:t> as the weight assigned to </a:t>
                </a:r>
                <a:r>
                  <a:rPr lang="en-US" sz="1500" dirty="0" err="1">
                    <a:latin typeface="Times New Roman" panose="02020603050405020304" pitchFamily="18" charset="0"/>
                    <a:cs typeface="Times New Roman" panose="02020603050405020304" pitchFamily="18" charset="0"/>
                  </a:rPr>
                  <a:t>i</a:t>
                </a:r>
                <a:r>
                  <a:rPr lang="en-US" dirty="0"/>
                  <a:t>. </a:t>
                </a:r>
                <a:r>
                  <a:rPr lang="en-US" sz="1500" dirty="0">
                    <a:latin typeface="Times New Roman" panose="02020603050405020304" pitchFamily="18" charset="0"/>
                    <a:cs typeface="Times New Roman" panose="02020603050405020304" pitchFamily="18" charset="0"/>
                  </a:rPr>
                  <a:t>(1….n) features discussed.</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To obtain the weights for the individual features, we use training data.</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Segments with the highest scores are selected for inclusion into the summary</a:t>
                </a:r>
                <a:r>
                  <a:rPr lang="en-US" dirty="0"/>
                  <a:t>.</a:t>
                </a:r>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2237020"/>
                <a:ext cx="7886700" cy="3263504"/>
              </a:xfrm>
              <a:blipFill>
                <a:blip r:embed="rId2"/>
                <a:stretch>
                  <a:fillRect l="-232" t="-4860"/>
                </a:stretch>
              </a:blipFill>
            </p:spPr>
            <p:txBody>
              <a:bodyPr/>
              <a:lstStyle/>
              <a:p>
                <a:r>
                  <a:rPr lang="en-US">
                    <a:noFill/>
                  </a:rPr>
                  <a:t> </a:t>
                </a:r>
              </a:p>
            </p:txBody>
          </p:sp>
        </mc:Fallback>
      </mc:AlternateContent>
    </p:spTree>
    <p:extLst>
      <p:ext uri="{BB962C8B-B14F-4D97-AF65-F5344CB8AC3E}">
        <p14:creationId xmlns:p14="http://schemas.microsoft.com/office/powerpoint/2010/main" val="4069905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Compiling Summaries</a:t>
            </a:r>
          </a:p>
        </p:txBody>
      </p:sp>
      <p:sp>
        <p:nvSpPr>
          <p:cNvPr id="3" name="Content Placeholder 2"/>
          <p:cNvSpPr>
            <a:spLocks noGrp="1"/>
          </p:cNvSpPr>
          <p:nvPr>
            <p:ph idx="1"/>
          </p:nvPr>
        </p:nvSpPr>
        <p:spPr/>
        <p:txBody>
          <a:bodyPr>
            <a:normAutofit/>
          </a:bodyPr>
          <a:lstStyle/>
          <a:p>
            <a:r>
              <a:rPr lang="en-US" sz="1500" dirty="0">
                <a:latin typeface="Times New Roman" panose="02020603050405020304" pitchFamily="18" charset="0"/>
                <a:cs typeface="Times New Roman" panose="02020603050405020304" pitchFamily="18" charset="0"/>
              </a:rPr>
              <a:t>Aggregation of selected segments into summary using rule based paraphrasing and filtering grammars.</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This is done in MATE flat form , an open source grammar development environment.</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E.g. The device contains a signal processing unit</a:t>
            </a:r>
          </a:p>
          <a:p>
            <a:pPr marL="0" indent="0">
              <a:buNone/>
            </a:pPr>
            <a:r>
              <a:rPr lang="en-US" sz="1500" dirty="0">
                <a:latin typeface="Times New Roman" panose="02020603050405020304" pitchFamily="18" charset="0"/>
                <a:cs typeface="Times New Roman" panose="02020603050405020304" pitchFamily="18" charset="0"/>
              </a:rPr>
              <a:t>           The device is located next to the shading unit</a:t>
            </a:r>
          </a:p>
          <a:p>
            <a:pPr marL="0" indent="0">
              <a:buNone/>
            </a:pPr>
            <a:r>
              <a:rPr lang="en-US" sz="15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The device contains a signal processing unit . It is located next to the shading unit.</a:t>
            </a:r>
          </a:p>
          <a:p>
            <a:pPr marL="0" indent="0">
              <a:buNone/>
            </a:pP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This aggregated segments are passed to MATE natural language generator ,which gives fluent summary of the patent </a:t>
            </a:r>
          </a:p>
          <a:p>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721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work</a:t>
            </a:r>
          </a:p>
        </p:txBody>
      </p:sp>
      <p:sp>
        <p:nvSpPr>
          <p:cNvPr id="3" name="Content Placeholder 2"/>
          <p:cNvSpPr>
            <a:spLocks noGrp="1"/>
          </p:cNvSpPr>
          <p:nvPr>
            <p:ph idx="1"/>
          </p:nvPr>
        </p:nvSpPr>
        <p:spPr/>
        <p:txBody>
          <a:bodyPr/>
          <a:lstStyle/>
          <a:p>
            <a:r>
              <a:rPr lang="en-US" sz="1500" dirty="0">
                <a:latin typeface="Times New Roman" panose="02020603050405020304" pitchFamily="18" charset="0"/>
                <a:cs typeface="Times New Roman" panose="02020603050405020304" pitchFamily="18" charset="0"/>
              </a:rPr>
              <a:t>TOPAS technologies have been tested only on specific patent collection only in its entire lifetime, needs to be tested on broad range of patents.</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Suboptimal performance of the  preprocessing tasks needs to be improvised.</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Maturation of the all TOPAS technologies has to be done as it is still prototype.</a:t>
            </a:r>
          </a:p>
        </p:txBody>
      </p:sp>
    </p:spTree>
    <p:extLst>
      <p:ext uri="{BB962C8B-B14F-4D97-AF65-F5344CB8AC3E}">
        <p14:creationId xmlns:p14="http://schemas.microsoft.com/office/powerpoint/2010/main" val="1791951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91684" y="2531450"/>
            <a:ext cx="7772400" cy="1362075"/>
          </a:xfrm>
        </p:spPr>
        <p:txBody>
          <a:bodyPr/>
          <a:lstStyle/>
          <a:p>
            <a:pPr algn="ctr"/>
            <a:r>
              <a:rPr lang="en-US" b="1"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14320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912</TotalTime>
  <Words>1951</Words>
  <Application>Microsoft Office PowerPoint</Application>
  <PresentationFormat>On-screen Show (4:3)</PresentationFormat>
  <Paragraphs>202</Paragraphs>
  <Slides>27</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Arial</vt:lpstr>
      <vt:lpstr>Calibri</vt:lpstr>
      <vt:lpstr>Cambria Math</vt:lpstr>
      <vt:lpstr>Helvetica</vt:lpstr>
      <vt:lpstr>Times New Roman</vt:lpstr>
      <vt:lpstr>Wingdings</vt:lpstr>
      <vt:lpstr>Office Theme</vt:lpstr>
      <vt:lpstr>Custom Design</vt:lpstr>
      <vt:lpstr>PowerPoint Presentation</vt:lpstr>
      <vt:lpstr>Introduction</vt:lpstr>
      <vt:lpstr>TOPAS Workbench</vt:lpstr>
      <vt:lpstr>TOPAS Workbench Architecture</vt:lpstr>
      <vt:lpstr>TOPAS Workbench - GATE</vt:lpstr>
      <vt:lpstr>TOPAS Workbench - Preprocessor </vt:lpstr>
      <vt:lpstr>Entity Recognition</vt:lpstr>
      <vt:lpstr>Predefined Term Type Recognition</vt:lpstr>
      <vt:lpstr>Generic Entity Recognition</vt:lpstr>
      <vt:lpstr>Lexical Chain Identification</vt:lpstr>
      <vt:lpstr>Invention Composition Extraction</vt:lpstr>
      <vt:lpstr>Segmentation</vt:lpstr>
      <vt:lpstr>PowerPoint Presentation</vt:lpstr>
      <vt:lpstr>2nd Level Segmentation</vt:lpstr>
      <vt:lpstr>PowerPoint Presentation</vt:lpstr>
      <vt:lpstr>3rd Level Segmentation</vt:lpstr>
      <vt:lpstr>Claim – description alignment</vt:lpstr>
      <vt:lpstr>PowerPoint Presentation</vt:lpstr>
      <vt:lpstr>Patent summarization</vt:lpstr>
      <vt:lpstr>Summarization(contd)</vt:lpstr>
      <vt:lpstr>Mention-based features</vt:lpstr>
      <vt:lpstr>Mention-based features(contd)</vt:lpstr>
      <vt:lpstr>Segment Relevant features</vt:lpstr>
      <vt:lpstr>Summarization Metric</vt:lpstr>
      <vt:lpstr>Compiling Summaries</vt:lpstr>
      <vt:lpstr>Future work</vt:lpstr>
      <vt:lpstr>Thank you</vt:lpstr>
    </vt:vector>
  </TitlesOfParts>
  <Company>University of Missouri - Kansas 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UMKC Faculty and Staff</dc:creator>
  <cp:lastModifiedBy>Sri Chaitanya Patluri</cp:lastModifiedBy>
  <cp:revision>107</cp:revision>
  <cp:lastPrinted>2016-03-24T02:35:58Z</cp:lastPrinted>
  <dcterms:created xsi:type="dcterms:W3CDTF">2014-01-29T16:47:28Z</dcterms:created>
  <dcterms:modified xsi:type="dcterms:W3CDTF">2016-07-19T07:32:16Z</dcterms:modified>
</cp:coreProperties>
</file>